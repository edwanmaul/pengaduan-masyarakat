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6" r:id="rId4"/>
    <p:sldId id="258" r:id="rId5"/>
    <p:sldId id="259" r:id="rId6"/>
    <p:sldId id="260" r:id="rId7"/>
    <p:sldId id="261" r:id="rId8"/>
    <p:sldId id="262" r:id="rId9"/>
    <p:sldId id="263" r:id="rId10"/>
    <p:sldId id="267" r:id="rId11"/>
    <p:sldId id="268" r:id="rId12"/>
    <p:sldId id="269" r:id="rId13"/>
    <p:sldId id="265" r:id="rId14"/>
    <p:sldId id="272" r:id="rId15"/>
    <p:sldId id="264" r:id="rId16"/>
    <p:sldId id="270" r:id="rId17"/>
  </p:sldIdLst>
  <p:sldSz cx="18288000" cy="10287000"/>
  <p:notesSz cx="6858000" cy="9144000"/>
  <p:embeddedFontLst>
    <p:embeddedFont>
      <p:font typeface="Arimo" panose="020B0604020202020204" charset="0"/>
      <p:regular r:id="rId18"/>
    </p:embeddedFont>
    <p:embeddedFont>
      <p:font typeface="Arimo Bold" panose="020B0604020202020204" charset="0"/>
      <p:regular r:id="rId19"/>
    </p:embeddedFont>
    <p:embeddedFont>
      <p:font typeface="Calibri" panose="020F0502020204030204" pitchFamily="34" charset="0"/>
      <p:regular r:id="rId20"/>
      <p:bold r:id="rId21"/>
      <p:italic r:id="rId22"/>
      <p:boldItalic r:id="rId23"/>
    </p:embeddedFont>
    <p:embeddedFont>
      <p:font typeface="League Spartan"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291" autoAdjust="0"/>
  </p:normalViewPr>
  <p:slideViewPr>
    <p:cSldViewPr>
      <p:cViewPr varScale="1">
        <p:scale>
          <a:sx n="46" d="100"/>
          <a:sy n="46" d="100"/>
        </p:scale>
        <p:origin x="756" y="54"/>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16.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16.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16.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16.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16.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16.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16.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svg"/><Relationship Id="rId7" Type="http://schemas.openxmlformats.org/officeDocument/2006/relationships/image" Target="../media/image16.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8.svg"/><Relationship Id="rId7" Type="http://schemas.openxmlformats.org/officeDocument/2006/relationships/image" Target="../media/image16.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hyperlink" Target="https://www.figma.com/proto/ohZaYJQrYDOFKVFQru4xft/Project-Pelayanan-Masyarakat?node-id=0-1&amp;t=FkdODfZGWRBSI5l6-1" TargetMode="External"/><Relationship Id="rId3" Type="http://schemas.openxmlformats.org/officeDocument/2006/relationships/image" Target="../media/image18.svg"/><Relationship Id="rId7" Type="http://schemas.openxmlformats.org/officeDocument/2006/relationships/image" Target="../media/image16.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815150"/>
            <a:ext cx="7071310" cy="6868010"/>
          </a:xfrm>
          <a:custGeom>
            <a:avLst/>
            <a:gdLst/>
            <a:ahLst/>
            <a:cxnLst/>
            <a:rect l="l" t="t" r="r" b="b"/>
            <a:pathLst>
              <a:path w="7071310" h="6868010">
                <a:moveTo>
                  <a:pt x="0" y="0"/>
                </a:moveTo>
                <a:lnTo>
                  <a:pt x="7071310" y="0"/>
                </a:lnTo>
                <a:lnTo>
                  <a:pt x="7071310" y="6868010"/>
                </a:lnTo>
                <a:lnTo>
                  <a:pt x="0" y="68680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45554"/>
            <a:ext cx="7071310" cy="6868010"/>
          </a:xfrm>
          <a:custGeom>
            <a:avLst/>
            <a:gdLst/>
            <a:ahLst/>
            <a:cxnLst/>
            <a:rect l="l" t="t" r="r" b="b"/>
            <a:pathLst>
              <a:path w="7071310" h="6868010">
                <a:moveTo>
                  <a:pt x="0" y="0"/>
                </a:moveTo>
                <a:lnTo>
                  <a:pt x="7071310" y="0"/>
                </a:lnTo>
                <a:lnTo>
                  <a:pt x="7071310" y="6868010"/>
                </a:lnTo>
                <a:lnTo>
                  <a:pt x="0" y="68680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6364972" y="-99442"/>
            <a:ext cx="7071310" cy="6868010"/>
          </a:xfrm>
          <a:custGeom>
            <a:avLst/>
            <a:gdLst/>
            <a:ahLst/>
            <a:cxnLst/>
            <a:rect l="l" t="t" r="r" b="b"/>
            <a:pathLst>
              <a:path w="7071310" h="6868010">
                <a:moveTo>
                  <a:pt x="0" y="0"/>
                </a:moveTo>
                <a:lnTo>
                  <a:pt x="7071310" y="0"/>
                </a:lnTo>
                <a:lnTo>
                  <a:pt x="7071310" y="6868011"/>
                </a:lnTo>
                <a:lnTo>
                  <a:pt x="0" y="68680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3816380" y="5585646"/>
            <a:ext cx="7071310" cy="6868010"/>
          </a:xfrm>
          <a:custGeom>
            <a:avLst/>
            <a:gdLst/>
            <a:ahLst/>
            <a:cxnLst/>
            <a:rect l="l" t="t" r="r" b="b"/>
            <a:pathLst>
              <a:path w="7071310" h="6868010">
                <a:moveTo>
                  <a:pt x="0" y="0"/>
                </a:moveTo>
                <a:lnTo>
                  <a:pt x="7071311" y="0"/>
                </a:lnTo>
                <a:lnTo>
                  <a:pt x="7071311" y="6868010"/>
                </a:lnTo>
                <a:lnTo>
                  <a:pt x="0" y="68680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6908190" y="5700398"/>
            <a:ext cx="7071310" cy="6868010"/>
          </a:xfrm>
          <a:custGeom>
            <a:avLst/>
            <a:gdLst/>
            <a:ahLst/>
            <a:cxnLst/>
            <a:rect l="l" t="t" r="r" b="b"/>
            <a:pathLst>
              <a:path w="7071310" h="6868010">
                <a:moveTo>
                  <a:pt x="0" y="0"/>
                </a:moveTo>
                <a:lnTo>
                  <a:pt x="7071310" y="0"/>
                </a:lnTo>
                <a:lnTo>
                  <a:pt x="7071310" y="6868010"/>
                </a:lnTo>
                <a:lnTo>
                  <a:pt x="0" y="68680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2729943" y="-153329"/>
            <a:ext cx="7071310" cy="6868010"/>
          </a:xfrm>
          <a:custGeom>
            <a:avLst/>
            <a:gdLst/>
            <a:ahLst/>
            <a:cxnLst/>
            <a:rect l="l" t="t" r="r" b="b"/>
            <a:pathLst>
              <a:path w="7071310" h="6868010">
                <a:moveTo>
                  <a:pt x="0" y="0"/>
                </a:moveTo>
                <a:lnTo>
                  <a:pt x="7071310" y="0"/>
                </a:lnTo>
                <a:lnTo>
                  <a:pt x="7071310" y="6868010"/>
                </a:lnTo>
                <a:lnTo>
                  <a:pt x="0" y="68680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rot="2548192">
            <a:off x="368978" y="-172546"/>
            <a:ext cx="1319443" cy="2483119"/>
          </a:xfrm>
          <a:custGeom>
            <a:avLst/>
            <a:gdLst/>
            <a:ahLst/>
            <a:cxnLst/>
            <a:rect l="l" t="t" r="r" b="b"/>
            <a:pathLst>
              <a:path w="1319443" h="2483119">
                <a:moveTo>
                  <a:pt x="0" y="0"/>
                </a:moveTo>
                <a:lnTo>
                  <a:pt x="1319444" y="0"/>
                </a:lnTo>
                <a:lnTo>
                  <a:pt x="1319444" y="2483119"/>
                </a:lnTo>
                <a:lnTo>
                  <a:pt x="0" y="24831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rot="4623612" flipH="1" flipV="1">
            <a:off x="15546641" y="7018104"/>
            <a:ext cx="2951197" cy="3606751"/>
          </a:xfrm>
          <a:custGeom>
            <a:avLst/>
            <a:gdLst/>
            <a:ahLst/>
            <a:cxnLst/>
            <a:rect l="l" t="t" r="r" b="b"/>
            <a:pathLst>
              <a:path w="2951197" h="3606751">
                <a:moveTo>
                  <a:pt x="2951197" y="3606751"/>
                </a:moveTo>
                <a:lnTo>
                  <a:pt x="0" y="3606751"/>
                </a:lnTo>
                <a:lnTo>
                  <a:pt x="0" y="0"/>
                </a:lnTo>
                <a:lnTo>
                  <a:pt x="2951197" y="0"/>
                </a:lnTo>
                <a:lnTo>
                  <a:pt x="2951197" y="3606751"/>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755619" y="150456"/>
            <a:ext cx="15921515" cy="9183530"/>
          </a:xfrm>
          <a:custGeom>
            <a:avLst/>
            <a:gdLst/>
            <a:ahLst/>
            <a:cxnLst/>
            <a:rect l="l" t="t" r="r" b="b"/>
            <a:pathLst>
              <a:path w="15921515" h="9183530">
                <a:moveTo>
                  <a:pt x="0" y="0"/>
                </a:moveTo>
                <a:lnTo>
                  <a:pt x="15921514" y="0"/>
                </a:lnTo>
                <a:lnTo>
                  <a:pt x="15921514" y="9183530"/>
                </a:lnTo>
                <a:lnTo>
                  <a:pt x="0" y="918353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11"/>
          <p:cNvSpPr/>
          <p:nvPr/>
        </p:nvSpPr>
        <p:spPr>
          <a:xfrm rot="5400000">
            <a:off x="1078623" y="8488653"/>
            <a:ext cx="703795" cy="1995295"/>
          </a:xfrm>
          <a:custGeom>
            <a:avLst/>
            <a:gdLst/>
            <a:ahLst/>
            <a:cxnLst/>
            <a:rect l="l" t="t" r="r" b="b"/>
            <a:pathLst>
              <a:path w="703795" h="1995295">
                <a:moveTo>
                  <a:pt x="0" y="0"/>
                </a:moveTo>
                <a:lnTo>
                  <a:pt x="703795" y="0"/>
                </a:lnTo>
                <a:lnTo>
                  <a:pt x="703795" y="1995294"/>
                </a:lnTo>
                <a:lnTo>
                  <a:pt x="0" y="199529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2" name="Freeform 12"/>
          <p:cNvSpPr/>
          <p:nvPr/>
        </p:nvSpPr>
        <p:spPr>
          <a:xfrm>
            <a:off x="12526567" y="-1684526"/>
            <a:ext cx="6583680" cy="4114800"/>
          </a:xfrm>
          <a:custGeom>
            <a:avLst/>
            <a:gdLst/>
            <a:ahLst/>
            <a:cxnLst/>
            <a:rect l="l" t="t" r="r" b="b"/>
            <a:pathLst>
              <a:path w="6583680" h="4114800">
                <a:moveTo>
                  <a:pt x="0" y="0"/>
                </a:moveTo>
                <a:lnTo>
                  <a:pt x="6583680" y="0"/>
                </a:lnTo>
                <a:lnTo>
                  <a:pt x="6583680"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3" name="Freeform 13"/>
          <p:cNvSpPr/>
          <p:nvPr/>
        </p:nvSpPr>
        <p:spPr>
          <a:xfrm>
            <a:off x="16778822" y="2430274"/>
            <a:ext cx="1146427" cy="1487111"/>
          </a:xfrm>
          <a:custGeom>
            <a:avLst/>
            <a:gdLst/>
            <a:ahLst/>
            <a:cxnLst/>
            <a:rect l="l" t="t" r="r" b="b"/>
            <a:pathLst>
              <a:path w="1146427" h="1487111">
                <a:moveTo>
                  <a:pt x="0" y="0"/>
                </a:moveTo>
                <a:lnTo>
                  <a:pt x="1146427" y="0"/>
                </a:lnTo>
                <a:lnTo>
                  <a:pt x="1146427" y="1487111"/>
                </a:lnTo>
                <a:lnTo>
                  <a:pt x="0" y="148711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4" name="TextBox 14"/>
          <p:cNvSpPr txBox="1"/>
          <p:nvPr/>
        </p:nvSpPr>
        <p:spPr>
          <a:xfrm>
            <a:off x="5767803" y="2237745"/>
            <a:ext cx="6485236" cy="2269852"/>
          </a:xfrm>
          <a:prstGeom prst="rect">
            <a:avLst/>
          </a:prstGeom>
        </p:spPr>
        <p:txBody>
          <a:bodyPr lIns="0" tIns="0" rIns="0" bIns="0" rtlCol="0" anchor="t">
            <a:spAutoFit/>
          </a:bodyPr>
          <a:lstStyle/>
          <a:p>
            <a:pPr algn="ctr">
              <a:lnSpc>
                <a:spcPts val="19597"/>
              </a:lnSpc>
              <a:spcBef>
                <a:spcPct val="0"/>
              </a:spcBef>
            </a:pPr>
            <a:r>
              <a:rPr lang="en-US" sz="10000" dirty="0">
                <a:solidFill>
                  <a:srgbClr val="FFFFFF"/>
                </a:solidFill>
                <a:latin typeface="League Spartan"/>
                <a:ea typeface="League Spartan"/>
                <a:cs typeface="League Spartan"/>
                <a:sym typeface="League Spartan"/>
              </a:rPr>
              <a:t>PEMAS</a:t>
            </a:r>
          </a:p>
        </p:txBody>
      </p:sp>
      <p:sp>
        <p:nvSpPr>
          <p:cNvPr id="15" name="TextBox 15"/>
          <p:cNvSpPr txBox="1"/>
          <p:nvPr/>
        </p:nvSpPr>
        <p:spPr>
          <a:xfrm>
            <a:off x="2561092" y="4708453"/>
            <a:ext cx="12310567" cy="655372"/>
          </a:xfrm>
          <a:prstGeom prst="rect">
            <a:avLst/>
          </a:prstGeom>
        </p:spPr>
        <p:txBody>
          <a:bodyPr lIns="0" tIns="0" rIns="0" bIns="0" rtlCol="0" anchor="t">
            <a:spAutoFit/>
          </a:bodyPr>
          <a:lstStyle/>
          <a:p>
            <a:pPr algn="ctr">
              <a:lnSpc>
                <a:spcPts val="5600"/>
              </a:lnSpc>
              <a:spcBef>
                <a:spcPct val="0"/>
              </a:spcBef>
            </a:pPr>
            <a:r>
              <a:rPr lang="en-US" sz="4000" dirty="0" err="1">
                <a:solidFill>
                  <a:srgbClr val="FFFFFF"/>
                </a:solidFill>
                <a:latin typeface="Arimo"/>
                <a:ea typeface="Arimo"/>
                <a:cs typeface="Arimo"/>
                <a:sym typeface="Arimo"/>
              </a:rPr>
              <a:t>Sistem</a:t>
            </a:r>
            <a:r>
              <a:rPr lang="en-US" sz="4000" dirty="0">
                <a:solidFill>
                  <a:srgbClr val="FFFFFF"/>
                </a:solidFill>
                <a:latin typeface="Arimo"/>
                <a:ea typeface="Arimo"/>
                <a:cs typeface="Arimo"/>
                <a:sym typeface="Arimo"/>
              </a:rPr>
              <a:t> </a:t>
            </a:r>
            <a:r>
              <a:rPr lang="en-US" sz="4000" dirty="0" err="1">
                <a:solidFill>
                  <a:srgbClr val="FFFFFF"/>
                </a:solidFill>
                <a:latin typeface="Arimo"/>
                <a:ea typeface="Arimo"/>
                <a:cs typeface="Arimo"/>
                <a:sym typeface="Arimo"/>
              </a:rPr>
              <a:t>Informasi</a:t>
            </a:r>
            <a:r>
              <a:rPr lang="en-US" sz="4000" dirty="0">
                <a:solidFill>
                  <a:srgbClr val="FFFFFF"/>
                </a:solidFill>
                <a:latin typeface="Arimo"/>
                <a:ea typeface="Arimo"/>
                <a:cs typeface="Arimo"/>
                <a:sym typeface="Arimo"/>
              </a:rPr>
              <a:t> </a:t>
            </a:r>
            <a:r>
              <a:rPr lang="en-US" sz="4000" dirty="0" err="1">
                <a:solidFill>
                  <a:srgbClr val="FFFFFF"/>
                </a:solidFill>
                <a:latin typeface="Arimo"/>
                <a:ea typeface="Arimo"/>
                <a:cs typeface="Arimo"/>
                <a:sym typeface="Arimo"/>
              </a:rPr>
              <a:t>Pengaduan</a:t>
            </a:r>
            <a:r>
              <a:rPr lang="en-US" sz="4000" dirty="0">
                <a:solidFill>
                  <a:srgbClr val="FFFFFF"/>
                </a:solidFill>
                <a:latin typeface="Arimo"/>
                <a:ea typeface="Arimo"/>
                <a:cs typeface="Arimo"/>
                <a:sym typeface="Arimo"/>
              </a:rPr>
              <a:t> Masyarakat</a:t>
            </a:r>
          </a:p>
        </p:txBody>
      </p:sp>
      <p:sp>
        <p:nvSpPr>
          <p:cNvPr id="16" name="TextBox 16"/>
          <p:cNvSpPr txBox="1"/>
          <p:nvPr/>
        </p:nvSpPr>
        <p:spPr>
          <a:xfrm>
            <a:off x="6635303" y="6365256"/>
            <a:ext cx="5017393" cy="800100"/>
          </a:xfrm>
          <a:prstGeom prst="rect">
            <a:avLst/>
          </a:prstGeom>
        </p:spPr>
        <p:txBody>
          <a:bodyPr lIns="0" tIns="0" rIns="0" bIns="0" rtlCol="0" anchor="t">
            <a:spAutoFit/>
          </a:bodyPr>
          <a:lstStyle/>
          <a:p>
            <a:pPr algn="ctr">
              <a:lnSpc>
                <a:spcPts val="6300"/>
              </a:lnSpc>
              <a:spcBef>
                <a:spcPct val="0"/>
              </a:spcBef>
            </a:pPr>
            <a:r>
              <a:rPr lang="en-US" sz="4500" b="1">
                <a:solidFill>
                  <a:srgbClr val="FFFFFF"/>
                </a:solidFill>
                <a:latin typeface="Arimo Bold"/>
                <a:ea typeface="Arimo Bold"/>
                <a:cs typeface="Arimo Bold"/>
                <a:sym typeface="Arimo Bold"/>
              </a:rPr>
              <a:t>Oleh : Kelompok 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p:cNvGrpSpPr/>
        <p:nvPr/>
      </p:nvGrpSpPr>
      <p:grpSpPr>
        <a:xfrm>
          <a:off x="0" y="0"/>
          <a:ext cx="0" cy="0"/>
          <a:chOff x="0" y="0"/>
          <a:chExt cx="0" cy="0"/>
        </a:xfrm>
      </p:grpSpPr>
      <p:sp>
        <p:nvSpPr>
          <p:cNvPr id="6" name="Freeform 6"/>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3984625" y="838200"/>
            <a:ext cx="10184011" cy="1615827"/>
          </a:xfrm>
          <a:prstGeom prst="rect">
            <a:avLst/>
          </a:prstGeom>
        </p:spPr>
        <p:txBody>
          <a:bodyPr lIns="0" tIns="0" rIns="0" bIns="0" rtlCol="0" anchor="t">
            <a:spAutoFit/>
          </a:bodyPr>
          <a:lstStyle/>
          <a:p>
            <a:pPr algn="ctr">
              <a:lnSpc>
                <a:spcPts val="13999"/>
              </a:lnSpc>
              <a:spcBef>
                <a:spcPct val="0"/>
              </a:spcBef>
            </a:pPr>
            <a:r>
              <a:rPr lang="en-US" sz="7000" dirty="0">
                <a:solidFill>
                  <a:srgbClr val="FFFFFF"/>
                </a:solidFill>
                <a:latin typeface="League Spartan"/>
                <a:ea typeface="League Spartan"/>
                <a:cs typeface="League Spartan"/>
                <a:sym typeface="League Spartan"/>
              </a:rPr>
              <a:t>NAMA KELOMPOK:</a:t>
            </a:r>
          </a:p>
        </p:txBody>
      </p:sp>
      <p:sp>
        <p:nvSpPr>
          <p:cNvPr id="8" name="Freeform 8"/>
          <p:cNvSpPr/>
          <p:nvPr/>
        </p:nvSpPr>
        <p:spPr>
          <a:xfrm>
            <a:off x="-297060" y="8718195"/>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5400000" flipH="1" flipV="1">
            <a:off x="16239371" y="8665253"/>
            <a:ext cx="764962" cy="2168706"/>
          </a:xfrm>
          <a:custGeom>
            <a:avLst/>
            <a:gdLst/>
            <a:ahLst/>
            <a:cxnLst/>
            <a:rect l="l" t="t" r="r" b="b"/>
            <a:pathLst>
              <a:path w="764962" h="2168706">
                <a:moveTo>
                  <a:pt x="764962" y="2168706"/>
                </a:moveTo>
                <a:lnTo>
                  <a:pt x="0" y="2168706"/>
                </a:lnTo>
                <a:lnTo>
                  <a:pt x="0" y="0"/>
                </a:lnTo>
                <a:lnTo>
                  <a:pt x="764962" y="0"/>
                </a:lnTo>
                <a:lnTo>
                  <a:pt x="764962" y="216870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Rectangle: Rounded Corners 10">
            <a:extLst>
              <a:ext uri="{FF2B5EF4-FFF2-40B4-BE49-F238E27FC236}">
                <a16:creationId xmlns:a16="http://schemas.microsoft.com/office/drawing/2014/main" id="{276B0269-E2E9-FF7C-89D1-8E9723038EC3}"/>
              </a:ext>
            </a:extLst>
          </p:cNvPr>
          <p:cNvSpPr/>
          <p:nvPr/>
        </p:nvSpPr>
        <p:spPr>
          <a:xfrm>
            <a:off x="2819400" y="2933700"/>
            <a:ext cx="11349236" cy="643342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4700" dirty="0"/>
              <a:t>1. Muhammad Edwan Maulana (19241258)</a:t>
            </a:r>
          </a:p>
          <a:p>
            <a:r>
              <a:rPr lang="en-US" sz="4700" dirty="0"/>
              <a:t>2. Chevy </a:t>
            </a:r>
            <a:r>
              <a:rPr lang="en-US" sz="4700" dirty="0" err="1"/>
              <a:t>Saepul</a:t>
            </a:r>
            <a:r>
              <a:rPr lang="en-US" sz="4700" dirty="0"/>
              <a:t> Pajar (19242081)</a:t>
            </a:r>
          </a:p>
          <a:p>
            <a:r>
              <a:rPr lang="en-US" sz="4700" dirty="0"/>
              <a:t>3. </a:t>
            </a:r>
            <a:r>
              <a:rPr lang="en-US" sz="4700" dirty="0" err="1"/>
              <a:t>Fiky</a:t>
            </a:r>
            <a:r>
              <a:rPr lang="en-US" sz="4700" dirty="0"/>
              <a:t> Fernanda Putra (19240195)</a:t>
            </a:r>
          </a:p>
          <a:p>
            <a:r>
              <a:rPr lang="en-US" sz="4700" dirty="0"/>
              <a:t>4. Aditya Nugroho ( 19240023)</a:t>
            </a:r>
          </a:p>
          <a:p>
            <a:r>
              <a:rPr lang="en-US" sz="4700" dirty="0"/>
              <a:t>5. </a:t>
            </a:r>
            <a:r>
              <a:rPr lang="en-US" sz="4700" dirty="0" err="1"/>
              <a:t>Suci</a:t>
            </a:r>
            <a:r>
              <a:rPr lang="en-US" sz="4700" dirty="0"/>
              <a:t> </a:t>
            </a:r>
            <a:r>
              <a:rPr lang="en-US" sz="4700" dirty="0" err="1"/>
              <a:t>Rahmadani</a:t>
            </a:r>
            <a:r>
              <a:rPr lang="en-US" sz="4700" dirty="0"/>
              <a:t> (19242341)</a:t>
            </a:r>
          </a:p>
          <a:p>
            <a:r>
              <a:rPr lang="en-US" sz="4700" dirty="0"/>
              <a:t>6. Viktoria Fatima Inus (19241393)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a:extLst>
            <a:ext uri="{FF2B5EF4-FFF2-40B4-BE49-F238E27FC236}">
              <a16:creationId xmlns:a16="http://schemas.microsoft.com/office/drawing/2014/main" id="{DCEA7C55-D14E-108B-8426-8017FECA2ED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6F9C08B-4A33-EC2A-9E4F-89136A9B4A96}"/>
              </a:ext>
            </a:extLst>
          </p:cNvPr>
          <p:cNvGrpSpPr/>
          <p:nvPr/>
        </p:nvGrpSpPr>
        <p:grpSpPr>
          <a:xfrm>
            <a:off x="1190388" y="2546351"/>
            <a:ext cx="15899141" cy="7203255"/>
            <a:chOff x="0" y="0"/>
            <a:chExt cx="4187428" cy="1897154"/>
          </a:xfrm>
        </p:grpSpPr>
        <p:sp>
          <p:nvSpPr>
            <p:cNvPr id="3" name="Freeform 3">
              <a:extLst>
                <a:ext uri="{FF2B5EF4-FFF2-40B4-BE49-F238E27FC236}">
                  <a16:creationId xmlns:a16="http://schemas.microsoft.com/office/drawing/2014/main" id="{60DB33BF-F6E5-D7A0-542E-E2F20B6E8152}"/>
                </a:ext>
              </a:extLst>
            </p:cNvPr>
            <p:cNvSpPr/>
            <p:nvPr/>
          </p:nvSpPr>
          <p:spPr>
            <a:xfrm>
              <a:off x="0" y="0"/>
              <a:ext cx="4187428" cy="1897154"/>
            </a:xfrm>
            <a:custGeom>
              <a:avLst/>
              <a:gdLst/>
              <a:ahLst/>
              <a:cxnLst/>
              <a:rect l="l" t="t" r="r" b="b"/>
              <a:pathLst>
                <a:path w="4187428" h="1897154">
                  <a:moveTo>
                    <a:pt x="0" y="0"/>
                  </a:moveTo>
                  <a:lnTo>
                    <a:pt x="4187428" y="0"/>
                  </a:lnTo>
                  <a:lnTo>
                    <a:pt x="4187428" y="1897154"/>
                  </a:lnTo>
                  <a:lnTo>
                    <a:pt x="0" y="1897154"/>
                  </a:lnTo>
                  <a:close/>
                </a:path>
              </a:pathLst>
            </a:custGeom>
            <a:solidFill>
              <a:srgbClr val="FFFFFF"/>
            </a:solidFill>
          </p:spPr>
        </p:sp>
        <p:sp>
          <p:nvSpPr>
            <p:cNvPr id="4" name="TextBox 4">
              <a:extLst>
                <a:ext uri="{FF2B5EF4-FFF2-40B4-BE49-F238E27FC236}">
                  <a16:creationId xmlns:a16="http://schemas.microsoft.com/office/drawing/2014/main" id="{7421FF7A-5EA5-CB69-87F5-8DC6F15FD0C6}"/>
                </a:ext>
              </a:extLst>
            </p:cNvPr>
            <p:cNvSpPr txBox="1"/>
            <p:nvPr/>
          </p:nvSpPr>
          <p:spPr>
            <a:xfrm>
              <a:off x="0" y="-47625"/>
              <a:ext cx="4187428" cy="1944779"/>
            </a:xfrm>
            <a:prstGeom prst="rect">
              <a:avLst/>
            </a:prstGeom>
          </p:spPr>
          <p:txBody>
            <a:bodyPr lIns="50800" tIns="50800" rIns="50800" bIns="50800" rtlCol="0" anchor="ctr"/>
            <a:lstStyle/>
            <a:p>
              <a:pPr algn="ctr">
                <a:lnSpc>
                  <a:spcPts val="2659"/>
                </a:lnSpc>
              </a:pPr>
              <a:endParaRPr/>
            </a:p>
          </p:txBody>
        </p:sp>
      </p:grpSp>
      <p:sp>
        <p:nvSpPr>
          <p:cNvPr id="5" name="TextBox 5">
            <a:extLst>
              <a:ext uri="{FF2B5EF4-FFF2-40B4-BE49-F238E27FC236}">
                <a16:creationId xmlns:a16="http://schemas.microsoft.com/office/drawing/2014/main" id="{F1625AB6-653D-FC30-40EB-E8141B535493}"/>
              </a:ext>
            </a:extLst>
          </p:cNvPr>
          <p:cNvSpPr txBox="1"/>
          <p:nvPr/>
        </p:nvSpPr>
        <p:spPr>
          <a:xfrm>
            <a:off x="1658556" y="2757714"/>
            <a:ext cx="14891818" cy="6668896"/>
          </a:xfrm>
          <a:prstGeom prst="rect">
            <a:avLst/>
          </a:prstGeom>
        </p:spPr>
        <p:txBody>
          <a:bodyPr lIns="0" tIns="0" rIns="0" bIns="0" rtlCol="0" anchor="t">
            <a:spAutoFit/>
          </a:bodyPr>
          <a:lstStyle/>
          <a:p>
            <a:pPr algn="l">
              <a:lnSpc>
                <a:spcPts val="5254"/>
              </a:lnSpc>
            </a:pPr>
            <a:r>
              <a:rPr lang="en-US" sz="3700" dirty="0">
                <a:solidFill>
                  <a:srgbClr val="23354B"/>
                </a:solidFill>
                <a:latin typeface="Arimo"/>
                <a:ea typeface="Arimo"/>
                <a:cs typeface="Arimo"/>
                <a:sym typeface="Arimo"/>
              </a:rPr>
              <a:t>Proses </a:t>
            </a:r>
            <a:r>
              <a:rPr lang="en-US" sz="3700" dirty="0" err="1">
                <a:solidFill>
                  <a:srgbClr val="23354B"/>
                </a:solidFill>
                <a:latin typeface="Arimo"/>
                <a:ea typeface="Arimo"/>
                <a:cs typeface="Arimo"/>
                <a:sym typeface="Arimo"/>
              </a:rPr>
              <a:t>pengaduan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masyarakat</a:t>
            </a:r>
            <a:r>
              <a:rPr lang="en-US" sz="3700" dirty="0">
                <a:solidFill>
                  <a:srgbClr val="23354B"/>
                </a:solidFill>
                <a:latin typeface="Arimo"/>
                <a:ea typeface="Arimo"/>
                <a:cs typeface="Arimo"/>
                <a:sym typeface="Arimo"/>
              </a:rPr>
              <a:t> yang </a:t>
            </a:r>
            <a:r>
              <a:rPr lang="en-US" sz="3700" dirty="0" err="1">
                <a:solidFill>
                  <a:srgbClr val="23354B"/>
                </a:solidFill>
                <a:latin typeface="Arimo"/>
                <a:ea typeface="Arimo"/>
                <a:cs typeface="Arimo"/>
                <a:sym typeface="Arimo"/>
              </a:rPr>
              <a:t>masih</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dilakukan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secara</a:t>
            </a:r>
            <a:r>
              <a:rPr lang="en-US" sz="3700" dirty="0">
                <a:solidFill>
                  <a:srgbClr val="23354B"/>
                </a:solidFill>
                <a:latin typeface="Arimo"/>
                <a:ea typeface="Arimo"/>
                <a:cs typeface="Arimo"/>
                <a:sym typeface="Arimo"/>
              </a:rPr>
              <a:t> manual </a:t>
            </a:r>
            <a:r>
              <a:rPr lang="en-US" sz="3700" dirty="0" err="1">
                <a:solidFill>
                  <a:srgbClr val="23354B"/>
                </a:solidFill>
                <a:latin typeface="Arimo"/>
                <a:ea typeface="Arimo"/>
                <a:cs typeface="Arimo"/>
                <a:sym typeface="Arimo"/>
              </a:rPr>
              <a:t>sering</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menimbulkan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berbagai</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kendala</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seperti</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lambatnya</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penanganan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ketidak</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teraturan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dokumentasi</a:t>
            </a:r>
            <a:r>
              <a:rPr lang="en-US" sz="3700" dirty="0">
                <a:solidFill>
                  <a:srgbClr val="23354B"/>
                </a:solidFill>
                <a:latin typeface="Arimo"/>
                <a:ea typeface="Arimo"/>
                <a:cs typeface="Arimo"/>
                <a:sym typeface="Arimo"/>
              </a:rPr>
              <a:t>, dan </a:t>
            </a:r>
            <a:r>
              <a:rPr lang="en-US" sz="3700" dirty="0" err="1">
                <a:solidFill>
                  <a:srgbClr val="23354B"/>
                </a:solidFill>
                <a:latin typeface="Arimo"/>
                <a:ea typeface="Arimo"/>
                <a:cs typeface="Arimo"/>
                <a:sym typeface="Arimo"/>
              </a:rPr>
              <a:t>kurangnya</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transparansi</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dalam</a:t>
            </a:r>
            <a:r>
              <a:rPr lang="en-US" sz="3700" dirty="0">
                <a:solidFill>
                  <a:srgbClr val="23354B"/>
                </a:solidFill>
                <a:latin typeface="Arimo"/>
                <a:ea typeface="Arimo"/>
                <a:cs typeface="Arimo"/>
                <a:sym typeface="Arimo"/>
              </a:rPr>
              <a:t> proses </a:t>
            </a:r>
            <a:r>
              <a:rPr lang="en-US" sz="3700" dirty="0" err="1">
                <a:solidFill>
                  <a:srgbClr val="23354B"/>
                </a:solidFill>
                <a:latin typeface="Arimo"/>
                <a:ea typeface="Arimo"/>
                <a:cs typeface="Arimo"/>
                <a:sym typeface="Arimo"/>
              </a:rPr>
              <a:t>tindak</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lanjut</a:t>
            </a:r>
            <a:r>
              <a:rPr lang="en-US" sz="3700" dirty="0">
                <a:solidFill>
                  <a:srgbClr val="23354B"/>
                </a:solidFill>
                <a:latin typeface="Arimo"/>
                <a:ea typeface="Arimo"/>
                <a:cs typeface="Arimo"/>
                <a:sym typeface="Arimo"/>
              </a:rPr>
              <a:t>. Masyarakat </a:t>
            </a:r>
            <a:r>
              <a:rPr lang="en-US" sz="3700" dirty="0" err="1">
                <a:solidFill>
                  <a:srgbClr val="23354B"/>
                </a:solidFill>
                <a:latin typeface="Arimo"/>
                <a:ea typeface="Arimo"/>
                <a:cs typeface="Arimo"/>
                <a:sym typeface="Arimo"/>
              </a:rPr>
              <a:t>tidak</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dapat</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mengetahui</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sejauh</a:t>
            </a:r>
            <a:r>
              <a:rPr lang="en-US" sz="3700" dirty="0">
                <a:solidFill>
                  <a:srgbClr val="23354B"/>
                </a:solidFill>
                <a:latin typeface="Arimo"/>
                <a:ea typeface="Arimo"/>
                <a:cs typeface="Arimo"/>
                <a:sym typeface="Arimo"/>
              </a:rPr>
              <a:t> mana </a:t>
            </a:r>
            <a:r>
              <a:rPr lang="en-US" sz="3700" dirty="0" err="1">
                <a:solidFill>
                  <a:srgbClr val="23354B"/>
                </a:solidFill>
                <a:latin typeface="Arimo"/>
                <a:ea typeface="Arimo"/>
                <a:cs typeface="Arimo"/>
                <a:sym typeface="Arimo"/>
              </a:rPr>
              <a:t>laporan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mereka</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sedang</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diproses</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sehingga</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menurunkan</a:t>
            </a:r>
            <a:r>
              <a:rPr lang="en-US" sz="3700" dirty="0">
                <a:solidFill>
                  <a:srgbClr val="23354B"/>
                </a:solidFill>
                <a:latin typeface="Arimo"/>
                <a:ea typeface="Arimo"/>
                <a:cs typeface="Arimo"/>
                <a:sym typeface="Arimo"/>
              </a:rPr>
              <a:t> rasa </a:t>
            </a:r>
            <a:r>
              <a:rPr lang="en-US" sz="3700" dirty="0" err="1">
                <a:solidFill>
                  <a:srgbClr val="23354B"/>
                </a:solidFill>
                <a:latin typeface="Arimo"/>
                <a:ea typeface="Arimo"/>
                <a:cs typeface="Arimo"/>
                <a:sym typeface="Arimo"/>
              </a:rPr>
              <a:t>percaya</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terhadap</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pelayanan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publik</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Dengan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pemanfaatan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sistem</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informasi</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berbasis</a:t>
            </a:r>
            <a:r>
              <a:rPr lang="en-US" sz="3700" dirty="0">
                <a:solidFill>
                  <a:srgbClr val="23354B"/>
                </a:solidFill>
                <a:latin typeface="Arimo"/>
                <a:ea typeface="Arimo"/>
                <a:cs typeface="Arimo"/>
                <a:sym typeface="Arimo"/>
              </a:rPr>
              <a:t> web, proses </a:t>
            </a:r>
            <a:r>
              <a:rPr lang="en-US" sz="3700" dirty="0" err="1">
                <a:solidFill>
                  <a:srgbClr val="23354B"/>
                </a:solidFill>
                <a:latin typeface="Arimo"/>
                <a:ea typeface="Arimo"/>
                <a:cs typeface="Arimo"/>
                <a:sym typeface="Arimo"/>
              </a:rPr>
              <a:t>pelaporan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dapat</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dilakukan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secara</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lebih</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cepat</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terstruktur</a:t>
            </a:r>
            <a:r>
              <a:rPr lang="en-US" sz="3700" dirty="0">
                <a:solidFill>
                  <a:srgbClr val="23354B"/>
                </a:solidFill>
                <a:latin typeface="Arimo"/>
                <a:ea typeface="Arimo"/>
                <a:cs typeface="Arimo"/>
                <a:sym typeface="Arimo"/>
              </a:rPr>
              <a:t>, dan </a:t>
            </a:r>
            <a:r>
              <a:rPr lang="en-US" sz="3700" dirty="0" err="1">
                <a:solidFill>
                  <a:srgbClr val="23354B"/>
                </a:solidFill>
                <a:latin typeface="Arimo"/>
                <a:ea typeface="Arimo"/>
                <a:cs typeface="Arimo"/>
                <a:sym typeface="Arimo"/>
              </a:rPr>
              <a:t>dapat</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dipantau</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secara</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langsung</a:t>
            </a:r>
            <a:r>
              <a:rPr lang="en-US" sz="3700" dirty="0">
                <a:solidFill>
                  <a:srgbClr val="23354B"/>
                </a:solidFill>
                <a:latin typeface="Arimo"/>
                <a:ea typeface="Arimo"/>
                <a:cs typeface="Arimo"/>
                <a:sym typeface="Arimo"/>
              </a:rPr>
              <a:t> oleh </a:t>
            </a:r>
            <a:r>
              <a:rPr lang="en-US" sz="3700" dirty="0" err="1">
                <a:solidFill>
                  <a:srgbClr val="23354B"/>
                </a:solidFill>
                <a:latin typeface="Arimo"/>
                <a:ea typeface="Arimo"/>
                <a:cs typeface="Arimo"/>
                <a:sym typeface="Arimo"/>
              </a:rPr>
              <a:t>pelapor</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Kehadiran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sistem</a:t>
            </a:r>
            <a:r>
              <a:rPr lang="en-US" sz="3700" dirty="0">
                <a:solidFill>
                  <a:srgbClr val="23354B"/>
                </a:solidFill>
                <a:latin typeface="Arimo"/>
                <a:ea typeface="Arimo"/>
                <a:cs typeface="Arimo"/>
                <a:sym typeface="Arimo"/>
              </a:rPr>
              <a:t> digital </a:t>
            </a:r>
            <a:r>
              <a:rPr lang="en-US" sz="3700" dirty="0" err="1">
                <a:solidFill>
                  <a:srgbClr val="23354B"/>
                </a:solidFill>
                <a:latin typeface="Arimo"/>
                <a:ea typeface="Arimo"/>
                <a:cs typeface="Arimo"/>
                <a:sym typeface="Arimo"/>
              </a:rPr>
              <a:t>ini</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menjadi</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solusi</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untuk</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mewujudkan</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pelayanan</a:t>
            </a:r>
            <a:r>
              <a:rPr lang="en-US" sz="3700" dirty="0">
                <a:solidFill>
                  <a:srgbClr val="23354B"/>
                </a:solidFill>
                <a:latin typeface="Arimo"/>
                <a:ea typeface="Arimo"/>
                <a:cs typeface="Arimo"/>
                <a:sym typeface="Arimo"/>
              </a:rPr>
              <a:t> yang </a:t>
            </a:r>
            <a:r>
              <a:rPr lang="en-US" sz="3700" dirty="0" err="1">
                <a:solidFill>
                  <a:srgbClr val="23354B"/>
                </a:solidFill>
                <a:latin typeface="Arimo"/>
                <a:ea typeface="Arimo"/>
                <a:cs typeface="Arimo"/>
                <a:sym typeface="Arimo"/>
              </a:rPr>
              <a:t>lebih</a:t>
            </a:r>
            <a:r>
              <a:rPr lang="en-US" sz="3700" dirty="0">
                <a:solidFill>
                  <a:srgbClr val="23354B"/>
                </a:solidFill>
                <a:latin typeface="Arimo"/>
                <a:ea typeface="Arimo"/>
                <a:cs typeface="Arimo"/>
                <a:sym typeface="Arimo"/>
              </a:rPr>
              <a:t> </a:t>
            </a:r>
            <a:r>
              <a:rPr lang="en-US" sz="3700" dirty="0" err="1">
                <a:solidFill>
                  <a:srgbClr val="23354B"/>
                </a:solidFill>
                <a:latin typeface="Arimo"/>
                <a:ea typeface="Arimo"/>
                <a:cs typeface="Arimo"/>
                <a:sym typeface="Arimo"/>
              </a:rPr>
              <a:t>responsif</a:t>
            </a:r>
            <a:r>
              <a:rPr lang="en-US" sz="3700" dirty="0">
                <a:solidFill>
                  <a:srgbClr val="23354B"/>
                </a:solidFill>
                <a:latin typeface="Arimo"/>
                <a:ea typeface="Arimo"/>
                <a:cs typeface="Arimo"/>
                <a:sym typeface="Arimo"/>
              </a:rPr>
              <a:t> dan </a:t>
            </a:r>
            <a:r>
              <a:rPr lang="en-US" sz="3700" dirty="0" err="1">
                <a:solidFill>
                  <a:srgbClr val="23354B"/>
                </a:solidFill>
                <a:latin typeface="Arimo"/>
                <a:ea typeface="Arimo"/>
                <a:cs typeface="Arimo"/>
                <a:sym typeface="Arimo"/>
              </a:rPr>
              <a:t>terbuka</a:t>
            </a:r>
            <a:r>
              <a:rPr lang="en-US" sz="3700" dirty="0">
                <a:solidFill>
                  <a:srgbClr val="23354B"/>
                </a:solidFill>
                <a:latin typeface="Arimo"/>
                <a:ea typeface="Arimo"/>
                <a:cs typeface="Arimo"/>
                <a:sym typeface="Arimo"/>
              </a:rPr>
              <a:t>.</a:t>
            </a:r>
          </a:p>
        </p:txBody>
      </p:sp>
      <p:sp>
        <p:nvSpPr>
          <p:cNvPr id="6" name="Freeform 6">
            <a:extLst>
              <a:ext uri="{FF2B5EF4-FFF2-40B4-BE49-F238E27FC236}">
                <a16:creationId xmlns:a16="http://schemas.microsoft.com/office/drawing/2014/main" id="{FC883329-3DC5-4FA1-7418-6C100002BD01}"/>
              </a:ext>
            </a:extLst>
          </p:cNvPr>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a:extLst>
              <a:ext uri="{FF2B5EF4-FFF2-40B4-BE49-F238E27FC236}">
                <a16:creationId xmlns:a16="http://schemas.microsoft.com/office/drawing/2014/main" id="{FEC9CAD5-FF62-8FBD-9DB5-DB3571F64B7F}"/>
              </a:ext>
            </a:extLst>
          </p:cNvPr>
          <p:cNvSpPr txBox="1"/>
          <p:nvPr/>
        </p:nvSpPr>
        <p:spPr>
          <a:xfrm>
            <a:off x="3984625" y="838200"/>
            <a:ext cx="10184011" cy="1708151"/>
          </a:xfrm>
          <a:prstGeom prst="rect">
            <a:avLst/>
          </a:prstGeom>
        </p:spPr>
        <p:txBody>
          <a:bodyPr lIns="0" tIns="0" rIns="0" bIns="0" rtlCol="0" anchor="t">
            <a:spAutoFit/>
          </a:bodyPr>
          <a:lstStyle/>
          <a:p>
            <a:pPr algn="ctr">
              <a:lnSpc>
                <a:spcPts val="13999"/>
              </a:lnSpc>
              <a:spcBef>
                <a:spcPct val="0"/>
              </a:spcBef>
            </a:pPr>
            <a:r>
              <a:rPr lang="en-US" sz="9999">
                <a:solidFill>
                  <a:srgbClr val="FFFFFF"/>
                </a:solidFill>
                <a:latin typeface="League Spartan"/>
                <a:ea typeface="League Spartan"/>
                <a:cs typeface="League Spartan"/>
                <a:sym typeface="League Spartan"/>
              </a:rPr>
              <a:t>Latar Belakang</a:t>
            </a:r>
          </a:p>
        </p:txBody>
      </p:sp>
      <p:sp>
        <p:nvSpPr>
          <p:cNvPr id="8" name="Freeform 8">
            <a:extLst>
              <a:ext uri="{FF2B5EF4-FFF2-40B4-BE49-F238E27FC236}">
                <a16:creationId xmlns:a16="http://schemas.microsoft.com/office/drawing/2014/main" id="{633EABAE-F0F5-0FC3-DFFA-F702E1D26A85}"/>
              </a:ext>
            </a:extLst>
          </p:cNvPr>
          <p:cNvSpPr/>
          <p:nvPr/>
        </p:nvSpPr>
        <p:spPr>
          <a:xfrm>
            <a:off x="-297060" y="8718195"/>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a:extLst>
              <a:ext uri="{FF2B5EF4-FFF2-40B4-BE49-F238E27FC236}">
                <a16:creationId xmlns:a16="http://schemas.microsoft.com/office/drawing/2014/main" id="{4ECA8FCB-F88C-7725-DFB3-0ABCEF05FDF7}"/>
              </a:ext>
            </a:extLst>
          </p:cNvPr>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a:extLst>
              <a:ext uri="{FF2B5EF4-FFF2-40B4-BE49-F238E27FC236}">
                <a16:creationId xmlns:a16="http://schemas.microsoft.com/office/drawing/2014/main" id="{D2F761AF-92F3-50F8-7DCA-4B1E02DD3EF1}"/>
              </a:ext>
            </a:extLst>
          </p:cNvPr>
          <p:cNvSpPr/>
          <p:nvPr/>
        </p:nvSpPr>
        <p:spPr>
          <a:xfrm rot="5400000" flipH="1" flipV="1">
            <a:off x="16239371" y="8665253"/>
            <a:ext cx="764962" cy="2168706"/>
          </a:xfrm>
          <a:custGeom>
            <a:avLst/>
            <a:gdLst/>
            <a:ahLst/>
            <a:cxnLst/>
            <a:rect l="l" t="t" r="r" b="b"/>
            <a:pathLst>
              <a:path w="764962" h="2168706">
                <a:moveTo>
                  <a:pt x="764962" y="2168706"/>
                </a:moveTo>
                <a:lnTo>
                  <a:pt x="0" y="2168706"/>
                </a:lnTo>
                <a:lnTo>
                  <a:pt x="0" y="0"/>
                </a:lnTo>
                <a:lnTo>
                  <a:pt x="764962" y="0"/>
                </a:lnTo>
                <a:lnTo>
                  <a:pt x="764962" y="2168706"/>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2641306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p:cNvGrpSpPr/>
        <p:nvPr/>
      </p:nvGrpSpPr>
      <p:grpSpPr>
        <a:xfrm>
          <a:off x="0" y="0"/>
          <a:ext cx="0" cy="0"/>
          <a:chOff x="0" y="0"/>
          <a:chExt cx="0" cy="0"/>
        </a:xfrm>
      </p:grpSpPr>
      <p:sp>
        <p:nvSpPr>
          <p:cNvPr id="2" name="Freeform 2"/>
          <p:cNvSpPr/>
          <p:nvPr/>
        </p:nvSpPr>
        <p:spPr>
          <a:xfrm>
            <a:off x="-437245" y="-273117"/>
            <a:ext cx="19027750" cy="10703110"/>
          </a:xfrm>
          <a:custGeom>
            <a:avLst/>
            <a:gdLst/>
            <a:ahLst/>
            <a:cxnLst/>
            <a:rect l="l" t="t" r="r" b="b"/>
            <a:pathLst>
              <a:path w="19027750" h="10703110">
                <a:moveTo>
                  <a:pt x="0" y="0"/>
                </a:moveTo>
                <a:lnTo>
                  <a:pt x="19027750" y="0"/>
                </a:lnTo>
                <a:lnTo>
                  <a:pt x="19027750" y="10703109"/>
                </a:lnTo>
                <a:lnTo>
                  <a:pt x="0" y="10703109"/>
                </a:lnTo>
                <a:lnTo>
                  <a:pt x="0" y="0"/>
                </a:lnTo>
                <a:close/>
              </a:path>
            </a:pathLst>
          </a:custGeom>
          <a:blipFill>
            <a:blip r:embed="rId2">
              <a:alphaModFix amt="6000"/>
              <a:extLst>
                <a:ext uri="{96DAC541-7B7A-43D3-8B79-37D633B846F1}">
                  <asvg:svgBlip xmlns:asvg="http://schemas.microsoft.com/office/drawing/2016/SVG/main" r:embed="rId3"/>
                </a:ext>
              </a:extLst>
            </a:blip>
            <a:stretch>
              <a:fillRect t="-69598" b="-1068"/>
            </a:stretch>
          </a:blipFill>
        </p:spPr>
      </p:sp>
      <p:grpSp>
        <p:nvGrpSpPr>
          <p:cNvPr id="3" name="Group 3"/>
          <p:cNvGrpSpPr/>
          <p:nvPr/>
        </p:nvGrpSpPr>
        <p:grpSpPr>
          <a:xfrm>
            <a:off x="1028700" y="2220958"/>
            <a:ext cx="16230600" cy="7766568"/>
            <a:chOff x="0" y="0"/>
            <a:chExt cx="4274726" cy="2045516"/>
          </a:xfrm>
        </p:grpSpPr>
        <p:sp>
          <p:nvSpPr>
            <p:cNvPr id="4" name="Freeform 4"/>
            <p:cNvSpPr/>
            <p:nvPr/>
          </p:nvSpPr>
          <p:spPr>
            <a:xfrm>
              <a:off x="0" y="0"/>
              <a:ext cx="4274726" cy="2045516"/>
            </a:xfrm>
            <a:custGeom>
              <a:avLst/>
              <a:gdLst/>
              <a:ahLst/>
              <a:cxnLst/>
              <a:rect l="l" t="t" r="r" b="b"/>
              <a:pathLst>
                <a:path w="4274726" h="2045516">
                  <a:moveTo>
                    <a:pt x="47700" y="0"/>
                  </a:moveTo>
                  <a:lnTo>
                    <a:pt x="4227026" y="0"/>
                  </a:lnTo>
                  <a:cubicBezTo>
                    <a:pt x="4239677" y="0"/>
                    <a:pt x="4251809" y="5025"/>
                    <a:pt x="4260755" y="13971"/>
                  </a:cubicBezTo>
                  <a:cubicBezTo>
                    <a:pt x="4269700" y="22916"/>
                    <a:pt x="4274726" y="35049"/>
                    <a:pt x="4274726" y="47700"/>
                  </a:cubicBezTo>
                  <a:lnTo>
                    <a:pt x="4274726" y="1997816"/>
                  </a:lnTo>
                  <a:cubicBezTo>
                    <a:pt x="4274726" y="2010467"/>
                    <a:pt x="4269700" y="2022600"/>
                    <a:pt x="4260755" y="2031545"/>
                  </a:cubicBezTo>
                  <a:cubicBezTo>
                    <a:pt x="4251809" y="2040490"/>
                    <a:pt x="4239677" y="2045516"/>
                    <a:pt x="4227026" y="2045516"/>
                  </a:cubicBezTo>
                  <a:lnTo>
                    <a:pt x="47700" y="2045516"/>
                  </a:lnTo>
                  <a:cubicBezTo>
                    <a:pt x="35049" y="2045516"/>
                    <a:pt x="22916" y="2040490"/>
                    <a:pt x="13971" y="2031545"/>
                  </a:cubicBezTo>
                  <a:cubicBezTo>
                    <a:pt x="5025" y="2022600"/>
                    <a:pt x="0" y="2010467"/>
                    <a:pt x="0" y="1997816"/>
                  </a:cubicBezTo>
                  <a:lnTo>
                    <a:pt x="0" y="47700"/>
                  </a:lnTo>
                  <a:cubicBezTo>
                    <a:pt x="0" y="35049"/>
                    <a:pt x="5025" y="22916"/>
                    <a:pt x="13971" y="13971"/>
                  </a:cubicBezTo>
                  <a:cubicBezTo>
                    <a:pt x="22916" y="5025"/>
                    <a:pt x="35049" y="0"/>
                    <a:pt x="47700" y="0"/>
                  </a:cubicBezTo>
                  <a:close/>
                </a:path>
              </a:pathLst>
            </a:custGeom>
            <a:solidFill>
              <a:srgbClr val="FFFFFF"/>
            </a:solidFill>
            <a:ln cap="rnd">
              <a:noFill/>
              <a:prstDash val="solid"/>
              <a:round/>
            </a:ln>
          </p:spPr>
        </p:sp>
        <p:sp>
          <p:nvSpPr>
            <p:cNvPr id="5" name="TextBox 5"/>
            <p:cNvSpPr txBox="1"/>
            <p:nvPr/>
          </p:nvSpPr>
          <p:spPr>
            <a:xfrm>
              <a:off x="0" y="-47625"/>
              <a:ext cx="4274726" cy="2093141"/>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7843178"/>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1756970" y="2318639"/>
            <a:ext cx="14774060" cy="7576241"/>
          </a:xfrm>
          <a:prstGeom prst="rect">
            <a:avLst/>
          </a:prstGeom>
        </p:spPr>
        <p:txBody>
          <a:bodyPr lIns="0" tIns="0" rIns="0" bIns="0" rtlCol="0" anchor="t">
            <a:spAutoFit/>
          </a:bodyPr>
          <a:lstStyle/>
          <a:p>
            <a:pPr marL="971552" lvl="1" indent="-485776" algn="l">
              <a:lnSpc>
                <a:spcPts val="6660"/>
              </a:lnSpc>
              <a:buFont typeface="Arial"/>
              <a:buChar char="•"/>
            </a:pPr>
            <a:r>
              <a:rPr lang="en-US" sz="4500" dirty="0" err="1">
                <a:solidFill>
                  <a:srgbClr val="23354B"/>
                </a:solidFill>
                <a:latin typeface="Arimo"/>
                <a:ea typeface="Arimo"/>
                <a:cs typeface="Arimo"/>
                <a:sym typeface="Arimo"/>
              </a:rPr>
              <a:t>Mempercepat</a:t>
            </a:r>
            <a:r>
              <a:rPr lang="en-US" sz="4500" dirty="0">
                <a:solidFill>
                  <a:srgbClr val="23354B"/>
                </a:solidFill>
                <a:latin typeface="Arimo"/>
                <a:ea typeface="Arimo"/>
                <a:cs typeface="Arimo"/>
                <a:sym typeface="Arimo"/>
              </a:rPr>
              <a:t> dan </a:t>
            </a:r>
            <a:r>
              <a:rPr lang="en-US" sz="4500" dirty="0" err="1">
                <a:solidFill>
                  <a:srgbClr val="23354B"/>
                </a:solidFill>
                <a:latin typeface="Arimo"/>
                <a:ea typeface="Arimo"/>
                <a:cs typeface="Arimo"/>
                <a:sym typeface="Arimo"/>
              </a:rPr>
              <a:t>meningkatkan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transparansi</a:t>
            </a:r>
            <a:r>
              <a:rPr lang="en-US" sz="4500" dirty="0">
                <a:solidFill>
                  <a:srgbClr val="23354B"/>
                </a:solidFill>
                <a:latin typeface="Arimo"/>
                <a:ea typeface="Arimo"/>
                <a:cs typeface="Arimo"/>
                <a:sym typeface="Arimo"/>
              </a:rPr>
              <a:t> proses </a:t>
            </a:r>
            <a:r>
              <a:rPr lang="en-US" sz="4500" dirty="0" err="1">
                <a:solidFill>
                  <a:srgbClr val="23354B"/>
                </a:solidFill>
                <a:latin typeface="Arimo"/>
                <a:ea typeface="Arimo"/>
                <a:cs typeface="Arimo"/>
                <a:sym typeface="Arimo"/>
              </a:rPr>
              <a:t>penanganan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pengaduan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masyarakat</a:t>
            </a:r>
            <a:r>
              <a:rPr lang="en-US" sz="4500" dirty="0">
                <a:solidFill>
                  <a:srgbClr val="23354B"/>
                </a:solidFill>
                <a:latin typeface="Arimo"/>
                <a:ea typeface="Arimo"/>
                <a:cs typeface="Arimo"/>
                <a:sym typeface="Arimo"/>
              </a:rPr>
              <a:t>.</a:t>
            </a:r>
          </a:p>
          <a:p>
            <a:pPr marL="971552" lvl="1" indent="-485776" algn="l">
              <a:lnSpc>
                <a:spcPts val="6660"/>
              </a:lnSpc>
              <a:buFont typeface="Arial"/>
              <a:buChar char="•"/>
            </a:pPr>
            <a:r>
              <a:rPr lang="en-US" sz="4500" dirty="0" err="1">
                <a:solidFill>
                  <a:srgbClr val="23354B"/>
                </a:solidFill>
                <a:latin typeface="Arimo"/>
                <a:ea typeface="Arimo"/>
                <a:cs typeface="Arimo"/>
                <a:sym typeface="Arimo"/>
              </a:rPr>
              <a:t>Meningkatkan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partisipasi</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publik</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dalam</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penyelenggaraan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layanan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melalui</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saluran</a:t>
            </a:r>
            <a:r>
              <a:rPr lang="en-US" sz="4500" dirty="0">
                <a:solidFill>
                  <a:srgbClr val="23354B"/>
                </a:solidFill>
                <a:latin typeface="Arimo"/>
                <a:ea typeface="Arimo"/>
                <a:cs typeface="Arimo"/>
                <a:sym typeface="Arimo"/>
              </a:rPr>
              <a:t> yang </a:t>
            </a:r>
            <a:r>
              <a:rPr lang="en-US" sz="4500" dirty="0" err="1">
                <a:solidFill>
                  <a:srgbClr val="23354B"/>
                </a:solidFill>
                <a:latin typeface="Arimo"/>
                <a:ea typeface="Arimo"/>
                <a:cs typeface="Arimo"/>
                <a:sym typeface="Arimo"/>
              </a:rPr>
              <a:t>mudah</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diakses</a:t>
            </a:r>
            <a:r>
              <a:rPr lang="en-US" sz="4500" dirty="0">
                <a:solidFill>
                  <a:srgbClr val="23354B"/>
                </a:solidFill>
                <a:latin typeface="Arimo"/>
                <a:ea typeface="Arimo"/>
                <a:cs typeface="Arimo"/>
                <a:sym typeface="Arimo"/>
              </a:rPr>
              <a:t>.</a:t>
            </a:r>
          </a:p>
          <a:p>
            <a:pPr marL="971552" lvl="1" indent="-485776" algn="l">
              <a:lnSpc>
                <a:spcPts val="6660"/>
              </a:lnSpc>
              <a:buFont typeface="Arial"/>
              <a:buChar char="•"/>
            </a:pPr>
            <a:r>
              <a:rPr lang="en-US" sz="4500" dirty="0" err="1">
                <a:solidFill>
                  <a:srgbClr val="23354B"/>
                </a:solidFill>
                <a:latin typeface="Arimo"/>
                <a:ea typeface="Arimo"/>
                <a:cs typeface="Arimo"/>
                <a:sym typeface="Arimo"/>
              </a:rPr>
              <a:t>Menyediakan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dokumentasi</a:t>
            </a:r>
            <a:r>
              <a:rPr lang="en-US" sz="4500" dirty="0">
                <a:solidFill>
                  <a:srgbClr val="23354B"/>
                </a:solidFill>
                <a:latin typeface="Arimo"/>
                <a:ea typeface="Arimo"/>
                <a:cs typeface="Arimo"/>
                <a:sym typeface="Arimo"/>
              </a:rPr>
              <a:t> dan data </a:t>
            </a:r>
            <a:r>
              <a:rPr lang="en-US" sz="4500" dirty="0" err="1">
                <a:solidFill>
                  <a:srgbClr val="23354B"/>
                </a:solidFill>
                <a:latin typeface="Arimo"/>
                <a:ea typeface="Arimo"/>
                <a:cs typeface="Arimo"/>
                <a:sym typeface="Arimo"/>
              </a:rPr>
              <a:t>terstruktur</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untuk</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analisis</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masalah</a:t>
            </a:r>
            <a:r>
              <a:rPr lang="en-US" sz="4500" dirty="0">
                <a:solidFill>
                  <a:srgbClr val="23354B"/>
                </a:solidFill>
                <a:latin typeface="Arimo"/>
                <a:ea typeface="Arimo"/>
                <a:cs typeface="Arimo"/>
                <a:sym typeface="Arimo"/>
              </a:rPr>
              <a:t> dan </a:t>
            </a:r>
            <a:r>
              <a:rPr lang="en-US" sz="4500" dirty="0" err="1">
                <a:solidFill>
                  <a:srgbClr val="23354B"/>
                </a:solidFill>
                <a:latin typeface="Arimo"/>
                <a:ea typeface="Arimo"/>
                <a:cs typeface="Arimo"/>
                <a:sym typeface="Arimo"/>
              </a:rPr>
              <a:t>perencanaan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kebijakan</a:t>
            </a:r>
            <a:r>
              <a:rPr lang="en-US" sz="4500" dirty="0">
                <a:solidFill>
                  <a:srgbClr val="23354B"/>
                </a:solidFill>
                <a:latin typeface="Arimo"/>
                <a:ea typeface="Arimo"/>
                <a:cs typeface="Arimo"/>
                <a:sym typeface="Arimo"/>
              </a:rPr>
              <a:t>.</a:t>
            </a:r>
          </a:p>
          <a:p>
            <a:pPr marL="928373" lvl="1" indent="-464186" algn="l">
              <a:lnSpc>
                <a:spcPts val="6364"/>
              </a:lnSpc>
              <a:buFont typeface="Arial"/>
              <a:buChar char="•"/>
            </a:pPr>
            <a:r>
              <a:rPr lang="en-US" sz="4300" dirty="0" err="1">
                <a:solidFill>
                  <a:srgbClr val="23354B"/>
                </a:solidFill>
                <a:latin typeface="Arimo"/>
                <a:ea typeface="Arimo"/>
                <a:cs typeface="Arimo"/>
                <a:sym typeface="Arimo"/>
              </a:rPr>
              <a:t>Relevansi</a:t>
            </a:r>
            <a:r>
              <a:rPr lang="en-US" sz="4300" dirty="0">
                <a:solidFill>
                  <a:srgbClr val="23354B"/>
                </a:solidFill>
                <a:latin typeface="Arimo"/>
                <a:ea typeface="Arimo"/>
                <a:cs typeface="Arimo"/>
                <a:sym typeface="Arimo"/>
              </a:rPr>
              <a:t> </a:t>
            </a:r>
            <a:r>
              <a:rPr lang="en-US" sz="4300" dirty="0" err="1">
                <a:solidFill>
                  <a:srgbClr val="23354B"/>
                </a:solidFill>
                <a:latin typeface="Arimo"/>
                <a:ea typeface="Arimo"/>
                <a:cs typeface="Arimo"/>
                <a:sym typeface="Arimo"/>
              </a:rPr>
              <a:t>praktis</a:t>
            </a:r>
            <a:r>
              <a:rPr lang="en-US" sz="4300" dirty="0">
                <a:solidFill>
                  <a:srgbClr val="23354B"/>
                </a:solidFill>
                <a:latin typeface="Arimo"/>
                <a:ea typeface="Arimo"/>
                <a:cs typeface="Arimo"/>
                <a:sym typeface="Arimo"/>
              </a:rPr>
              <a:t> : </a:t>
            </a:r>
            <a:r>
              <a:rPr lang="en-US" sz="4300" dirty="0" err="1">
                <a:solidFill>
                  <a:srgbClr val="23354B"/>
                </a:solidFill>
                <a:latin typeface="Arimo"/>
                <a:ea typeface="Arimo"/>
                <a:cs typeface="Arimo"/>
                <a:sym typeface="Arimo"/>
              </a:rPr>
              <a:t>banyak</a:t>
            </a:r>
            <a:r>
              <a:rPr lang="en-US" sz="4300" dirty="0">
                <a:solidFill>
                  <a:srgbClr val="23354B"/>
                </a:solidFill>
                <a:latin typeface="Arimo"/>
                <a:ea typeface="Arimo"/>
                <a:cs typeface="Arimo"/>
                <a:sym typeface="Arimo"/>
              </a:rPr>
              <a:t> </a:t>
            </a:r>
            <a:r>
              <a:rPr lang="en-US" sz="4300" dirty="0" err="1">
                <a:solidFill>
                  <a:srgbClr val="23354B"/>
                </a:solidFill>
                <a:latin typeface="Arimo"/>
                <a:ea typeface="Arimo"/>
                <a:cs typeface="Arimo"/>
                <a:sym typeface="Arimo"/>
              </a:rPr>
              <a:t>kepengurusan</a:t>
            </a:r>
            <a:r>
              <a:rPr lang="en-US" sz="4300" dirty="0">
                <a:solidFill>
                  <a:srgbClr val="23354B"/>
                </a:solidFill>
                <a:latin typeface="Arimo"/>
                <a:ea typeface="Arimo"/>
                <a:cs typeface="Arimo"/>
                <a:sym typeface="Arimo"/>
              </a:rPr>
              <a:t> RT </a:t>
            </a:r>
            <a:r>
              <a:rPr lang="en-US" sz="4300" dirty="0" err="1">
                <a:solidFill>
                  <a:srgbClr val="23354B"/>
                </a:solidFill>
                <a:latin typeface="Arimo"/>
                <a:ea typeface="Arimo"/>
                <a:cs typeface="Arimo"/>
                <a:sym typeface="Arimo"/>
              </a:rPr>
              <a:t>masih</a:t>
            </a:r>
            <a:r>
              <a:rPr lang="en-US" sz="4300" dirty="0">
                <a:solidFill>
                  <a:srgbClr val="23354B"/>
                </a:solidFill>
                <a:latin typeface="Arimo"/>
                <a:ea typeface="Arimo"/>
                <a:cs typeface="Arimo"/>
                <a:sym typeface="Arimo"/>
              </a:rPr>
              <a:t> </a:t>
            </a:r>
            <a:r>
              <a:rPr lang="en-US" sz="4300" dirty="0" err="1">
                <a:solidFill>
                  <a:srgbClr val="23354B"/>
                </a:solidFill>
                <a:latin typeface="Arimo"/>
                <a:ea typeface="Arimo"/>
                <a:cs typeface="Arimo"/>
                <a:sym typeface="Arimo"/>
              </a:rPr>
              <a:t>menggunakan</a:t>
            </a:r>
            <a:r>
              <a:rPr lang="en-US" sz="4300" dirty="0">
                <a:solidFill>
                  <a:srgbClr val="23354B"/>
                </a:solidFill>
                <a:latin typeface="Arimo"/>
                <a:ea typeface="Arimo"/>
                <a:cs typeface="Arimo"/>
                <a:sym typeface="Arimo"/>
              </a:rPr>
              <a:t> proses manual </a:t>
            </a:r>
            <a:r>
              <a:rPr lang="en-US" sz="4300" dirty="0" err="1">
                <a:solidFill>
                  <a:srgbClr val="23354B"/>
                </a:solidFill>
                <a:latin typeface="Arimo"/>
                <a:ea typeface="Arimo"/>
                <a:cs typeface="Arimo"/>
                <a:sym typeface="Arimo"/>
              </a:rPr>
              <a:t>sehingga</a:t>
            </a:r>
            <a:r>
              <a:rPr lang="en-US" sz="4300" dirty="0">
                <a:solidFill>
                  <a:srgbClr val="23354B"/>
                </a:solidFill>
                <a:latin typeface="Arimo"/>
                <a:ea typeface="Arimo"/>
                <a:cs typeface="Arimo"/>
                <a:sym typeface="Arimo"/>
              </a:rPr>
              <a:t> </a:t>
            </a:r>
            <a:r>
              <a:rPr lang="en-US" sz="4300" dirty="0" err="1">
                <a:solidFill>
                  <a:srgbClr val="23354B"/>
                </a:solidFill>
                <a:latin typeface="Arimo"/>
                <a:ea typeface="Arimo"/>
                <a:cs typeface="Arimo"/>
                <a:sym typeface="Arimo"/>
              </a:rPr>
              <a:t>perlu</a:t>
            </a:r>
            <a:r>
              <a:rPr lang="en-US" sz="4300" dirty="0">
                <a:solidFill>
                  <a:srgbClr val="23354B"/>
                </a:solidFill>
                <a:latin typeface="Arimo"/>
                <a:ea typeface="Arimo"/>
                <a:cs typeface="Arimo"/>
                <a:sym typeface="Arimo"/>
              </a:rPr>
              <a:t> </a:t>
            </a:r>
            <a:r>
              <a:rPr lang="en-US" sz="4300" dirty="0" err="1">
                <a:solidFill>
                  <a:srgbClr val="23354B"/>
                </a:solidFill>
                <a:latin typeface="Arimo"/>
                <a:ea typeface="Arimo"/>
                <a:cs typeface="Arimo"/>
                <a:sym typeface="Arimo"/>
              </a:rPr>
              <a:t>digitalisasi</a:t>
            </a:r>
            <a:r>
              <a:rPr lang="en-US" sz="4300" dirty="0">
                <a:solidFill>
                  <a:srgbClr val="23354B"/>
                </a:solidFill>
                <a:latin typeface="Arimo"/>
                <a:ea typeface="Arimo"/>
                <a:cs typeface="Arimo"/>
                <a:sym typeface="Arimo"/>
              </a:rPr>
              <a:t>.</a:t>
            </a:r>
          </a:p>
        </p:txBody>
      </p:sp>
      <p:sp>
        <p:nvSpPr>
          <p:cNvPr id="10" name="TextBox 10"/>
          <p:cNvSpPr txBox="1"/>
          <p:nvPr/>
        </p:nvSpPr>
        <p:spPr>
          <a:xfrm>
            <a:off x="3644502" y="643613"/>
            <a:ext cx="10864255" cy="1309356"/>
          </a:xfrm>
          <a:prstGeom prst="rect">
            <a:avLst/>
          </a:prstGeom>
        </p:spPr>
        <p:txBody>
          <a:bodyPr lIns="0" tIns="0" rIns="0" bIns="0" rtlCol="0" anchor="t">
            <a:spAutoFit/>
          </a:bodyPr>
          <a:lstStyle/>
          <a:p>
            <a:pPr algn="ctr">
              <a:lnSpc>
                <a:spcPts val="10780"/>
              </a:lnSpc>
              <a:spcBef>
                <a:spcPct val="0"/>
              </a:spcBef>
            </a:pPr>
            <a:r>
              <a:rPr lang="en-US" sz="7700">
                <a:solidFill>
                  <a:srgbClr val="FFFFFF"/>
                </a:solidFill>
                <a:latin typeface="League Spartan"/>
                <a:ea typeface="League Spartan"/>
                <a:cs typeface="League Spartan"/>
                <a:sym typeface="League Spartan"/>
              </a:rPr>
              <a:t>Alasan Memilih Tema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p:cNvGrpSpPr/>
        <p:nvPr/>
      </p:nvGrpSpPr>
      <p:grpSpPr>
        <a:xfrm>
          <a:off x="0" y="0"/>
          <a:ext cx="0" cy="0"/>
          <a:chOff x="0" y="0"/>
          <a:chExt cx="0" cy="0"/>
        </a:xfrm>
      </p:grpSpPr>
      <p:sp>
        <p:nvSpPr>
          <p:cNvPr id="2" name="Freeform 2"/>
          <p:cNvSpPr/>
          <p:nvPr/>
        </p:nvSpPr>
        <p:spPr>
          <a:xfrm>
            <a:off x="-437245" y="-273117"/>
            <a:ext cx="19027750" cy="10703110"/>
          </a:xfrm>
          <a:custGeom>
            <a:avLst/>
            <a:gdLst/>
            <a:ahLst/>
            <a:cxnLst/>
            <a:rect l="l" t="t" r="r" b="b"/>
            <a:pathLst>
              <a:path w="19027750" h="10703110">
                <a:moveTo>
                  <a:pt x="0" y="0"/>
                </a:moveTo>
                <a:lnTo>
                  <a:pt x="19027750" y="0"/>
                </a:lnTo>
                <a:lnTo>
                  <a:pt x="19027750" y="10703109"/>
                </a:lnTo>
                <a:lnTo>
                  <a:pt x="0" y="10703109"/>
                </a:lnTo>
                <a:lnTo>
                  <a:pt x="0" y="0"/>
                </a:lnTo>
                <a:close/>
              </a:path>
            </a:pathLst>
          </a:custGeom>
          <a:blipFill>
            <a:blip r:embed="rId2">
              <a:alphaModFix amt="6000"/>
              <a:extLst>
                <a:ext uri="{96DAC541-7B7A-43D3-8B79-37D633B846F1}">
                  <asvg:svgBlip xmlns:asvg="http://schemas.microsoft.com/office/drawing/2016/SVG/main" r:embed="rId3"/>
                </a:ext>
              </a:extLst>
            </a:blip>
            <a:stretch>
              <a:fillRect t="-69598" b="-1068"/>
            </a:stretch>
          </a:blipFill>
        </p:spPr>
      </p:sp>
      <p:grpSp>
        <p:nvGrpSpPr>
          <p:cNvPr id="3" name="Group 3"/>
          <p:cNvGrpSpPr/>
          <p:nvPr/>
        </p:nvGrpSpPr>
        <p:grpSpPr>
          <a:xfrm>
            <a:off x="1924693" y="3544028"/>
            <a:ext cx="14729816" cy="6228622"/>
            <a:chOff x="0" y="0"/>
            <a:chExt cx="4274726" cy="2045516"/>
          </a:xfrm>
        </p:grpSpPr>
        <p:sp>
          <p:nvSpPr>
            <p:cNvPr id="4" name="Freeform 4"/>
            <p:cNvSpPr/>
            <p:nvPr/>
          </p:nvSpPr>
          <p:spPr>
            <a:xfrm>
              <a:off x="0" y="0"/>
              <a:ext cx="4274726" cy="2045516"/>
            </a:xfrm>
            <a:custGeom>
              <a:avLst/>
              <a:gdLst/>
              <a:ahLst/>
              <a:cxnLst/>
              <a:rect l="l" t="t" r="r" b="b"/>
              <a:pathLst>
                <a:path w="4274726" h="2045516">
                  <a:moveTo>
                    <a:pt x="47700" y="0"/>
                  </a:moveTo>
                  <a:lnTo>
                    <a:pt x="4227026" y="0"/>
                  </a:lnTo>
                  <a:cubicBezTo>
                    <a:pt x="4239677" y="0"/>
                    <a:pt x="4251809" y="5025"/>
                    <a:pt x="4260755" y="13971"/>
                  </a:cubicBezTo>
                  <a:cubicBezTo>
                    <a:pt x="4269700" y="22916"/>
                    <a:pt x="4274726" y="35049"/>
                    <a:pt x="4274726" y="47700"/>
                  </a:cubicBezTo>
                  <a:lnTo>
                    <a:pt x="4274726" y="1997816"/>
                  </a:lnTo>
                  <a:cubicBezTo>
                    <a:pt x="4274726" y="2010467"/>
                    <a:pt x="4269700" y="2022600"/>
                    <a:pt x="4260755" y="2031545"/>
                  </a:cubicBezTo>
                  <a:cubicBezTo>
                    <a:pt x="4251809" y="2040490"/>
                    <a:pt x="4239677" y="2045516"/>
                    <a:pt x="4227026" y="2045516"/>
                  </a:cubicBezTo>
                  <a:lnTo>
                    <a:pt x="47700" y="2045516"/>
                  </a:lnTo>
                  <a:cubicBezTo>
                    <a:pt x="35049" y="2045516"/>
                    <a:pt x="22916" y="2040490"/>
                    <a:pt x="13971" y="2031545"/>
                  </a:cubicBezTo>
                  <a:cubicBezTo>
                    <a:pt x="5025" y="2022600"/>
                    <a:pt x="0" y="2010467"/>
                    <a:pt x="0" y="1997816"/>
                  </a:cubicBezTo>
                  <a:lnTo>
                    <a:pt x="0" y="47700"/>
                  </a:lnTo>
                  <a:cubicBezTo>
                    <a:pt x="0" y="35049"/>
                    <a:pt x="5025" y="22916"/>
                    <a:pt x="13971" y="13971"/>
                  </a:cubicBezTo>
                  <a:cubicBezTo>
                    <a:pt x="22916" y="5025"/>
                    <a:pt x="35049" y="0"/>
                    <a:pt x="47700" y="0"/>
                  </a:cubicBezTo>
                  <a:close/>
                </a:path>
              </a:pathLst>
            </a:custGeom>
            <a:solidFill>
              <a:srgbClr val="FFFFFF"/>
            </a:solidFill>
            <a:ln cap="rnd">
              <a:noFill/>
              <a:prstDash val="solid"/>
              <a:round/>
            </a:ln>
          </p:spPr>
        </p:sp>
        <p:sp>
          <p:nvSpPr>
            <p:cNvPr id="5" name="TextBox 5"/>
            <p:cNvSpPr txBox="1"/>
            <p:nvPr/>
          </p:nvSpPr>
          <p:spPr>
            <a:xfrm>
              <a:off x="0" y="-47625"/>
              <a:ext cx="4274726" cy="2093141"/>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7843178"/>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2274740" y="4123759"/>
            <a:ext cx="14256289" cy="5042599"/>
          </a:xfrm>
          <a:prstGeom prst="rect">
            <a:avLst/>
          </a:prstGeom>
        </p:spPr>
        <p:txBody>
          <a:bodyPr wrap="square" lIns="0" tIns="0" rIns="0" bIns="0" rtlCol="0" anchor="t">
            <a:spAutoFit/>
          </a:bodyPr>
          <a:lstStyle/>
          <a:p>
            <a:pPr algn="just">
              <a:lnSpc>
                <a:spcPts val="6660"/>
              </a:lnSpc>
            </a:pPr>
            <a:r>
              <a:rPr lang="en-US" sz="4000" dirty="0">
                <a:solidFill>
                  <a:srgbClr val="23354B"/>
                </a:solidFill>
                <a:latin typeface="Arimo"/>
                <a:ea typeface="Arimo"/>
                <a:cs typeface="Arimo"/>
                <a:sym typeface="Arimo"/>
              </a:rPr>
              <a:t>PEMAS </a:t>
            </a:r>
            <a:r>
              <a:rPr lang="en-US" sz="4000" dirty="0" err="1">
                <a:solidFill>
                  <a:srgbClr val="23354B"/>
                </a:solidFill>
                <a:latin typeface="Arimo"/>
                <a:ea typeface="Arimo"/>
                <a:cs typeface="Arimo"/>
                <a:sym typeface="Arimo"/>
              </a:rPr>
              <a:t>dibangun</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untuk</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menciptakan</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alur</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pelaporan</a:t>
            </a:r>
            <a:endParaRPr lang="en-US" sz="4000" dirty="0">
              <a:solidFill>
                <a:srgbClr val="23354B"/>
              </a:solidFill>
              <a:latin typeface="Arimo"/>
              <a:ea typeface="Arimo"/>
              <a:cs typeface="Arimo"/>
              <a:sym typeface="Arimo"/>
            </a:endParaRPr>
          </a:p>
          <a:p>
            <a:pPr algn="just">
              <a:lnSpc>
                <a:spcPts val="6660"/>
              </a:lnSpc>
            </a:pPr>
            <a:r>
              <a:rPr lang="en-US" sz="4000" dirty="0">
                <a:solidFill>
                  <a:srgbClr val="23354B"/>
                </a:solidFill>
                <a:latin typeface="Arimo"/>
                <a:ea typeface="Arimo"/>
                <a:cs typeface="Arimo"/>
                <a:sym typeface="Arimo"/>
              </a:rPr>
              <a:t>yang </a:t>
            </a:r>
            <a:r>
              <a:rPr lang="en-US" sz="4000" dirty="0" err="1">
                <a:solidFill>
                  <a:srgbClr val="23354B"/>
                </a:solidFill>
                <a:latin typeface="Arimo"/>
                <a:ea typeface="Arimo"/>
                <a:cs typeface="Arimo"/>
                <a:sym typeface="Arimo"/>
              </a:rPr>
              <a:t>lebih</a:t>
            </a:r>
            <a:r>
              <a:rPr lang="en-US" sz="4000" dirty="0">
                <a:solidFill>
                  <a:srgbClr val="23354B"/>
                </a:solidFill>
                <a:latin typeface="Arimo"/>
                <a:ea typeface="Arimo"/>
                <a:cs typeface="Arimo"/>
                <a:sym typeface="Arimo"/>
              </a:rPr>
              <a:t> modern dan </a:t>
            </a:r>
            <a:r>
              <a:rPr lang="en-US" sz="4000" dirty="0" err="1">
                <a:solidFill>
                  <a:srgbClr val="23354B"/>
                </a:solidFill>
                <a:latin typeface="Arimo"/>
                <a:ea typeface="Arimo"/>
                <a:cs typeface="Arimo"/>
                <a:sym typeface="Arimo"/>
              </a:rPr>
              <a:t>efisien</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Sistem</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ini</a:t>
            </a:r>
            <a:endParaRPr lang="en-US" sz="4000" dirty="0">
              <a:solidFill>
                <a:srgbClr val="23354B"/>
              </a:solidFill>
              <a:latin typeface="Arimo"/>
              <a:ea typeface="Arimo"/>
              <a:cs typeface="Arimo"/>
              <a:sym typeface="Arimo"/>
            </a:endParaRPr>
          </a:p>
          <a:p>
            <a:pPr algn="just">
              <a:lnSpc>
                <a:spcPts val="6660"/>
              </a:lnSpc>
            </a:pPr>
            <a:r>
              <a:rPr lang="en-US" sz="4000" dirty="0" err="1">
                <a:solidFill>
                  <a:srgbClr val="23354B"/>
                </a:solidFill>
                <a:latin typeface="Arimo"/>
                <a:ea typeface="Arimo"/>
                <a:cs typeface="Arimo"/>
                <a:sym typeface="Arimo"/>
              </a:rPr>
              <a:t>mempermudah</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masyarakat</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dalam</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menyampaikan</a:t>
            </a:r>
            <a:endParaRPr lang="en-US" sz="4000" dirty="0">
              <a:solidFill>
                <a:srgbClr val="23354B"/>
              </a:solidFill>
              <a:latin typeface="Arimo"/>
              <a:ea typeface="Arimo"/>
              <a:cs typeface="Arimo"/>
              <a:sym typeface="Arimo"/>
            </a:endParaRPr>
          </a:p>
          <a:p>
            <a:pPr algn="just">
              <a:lnSpc>
                <a:spcPts val="6660"/>
              </a:lnSpc>
            </a:pPr>
            <a:r>
              <a:rPr lang="en-US" sz="4000" dirty="0" err="1">
                <a:solidFill>
                  <a:srgbClr val="23354B"/>
                </a:solidFill>
                <a:latin typeface="Arimo"/>
                <a:ea typeface="Arimo"/>
                <a:cs typeface="Arimo"/>
                <a:sym typeface="Arimo"/>
              </a:rPr>
              <a:t>keluhan</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tanpa</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harus</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datang</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ke</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rumah</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pengurus</a:t>
            </a:r>
            <a:r>
              <a:rPr lang="en-US" sz="4000" dirty="0">
                <a:solidFill>
                  <a:srgbClr val="23354B"/>
                </a:solidFill>
                <a:latin typeface="Arimo"/>
                <a:ea typeface="Arimo"/>
                <a:cs typeface="Arimo"/>
                <a:sym typeface="Arimo"/>
              </a:rPr>
              <a:t> RT, </a:t>
            </a:r>
            <a:r>
              <a:rPr lang="en-US" sz="4000" dirty="0" err="1">
                <a:solidFill>
                  <a:srgbClr val="23354B"/>
                </a:solidFill>
                <a:latin typeface="Arimo"/>
                <a:ea typeface="Arimo"/>
                <a:cs typeface="Arimo"/>
                <a:sym typeface="Arimo"/>
              </a:rPr>
              <a:t>sekaligus</a:t>
            </a:r>
            <a:r>
              <a:rPr lang="en-US" sz="4000" dirty="0">
                <a:solidFill>
                  <a:srgbClr val="23354B"/>
                </a:solidFill>
                <a:latin typeface="Arimo"/>
                <a:ea typeface="Arimo"/>
                <a:cs typeface="Arimo"/>
                <a:sym typeface="Arimo"/>
              </a:rPr>
              <a:t> </a:t>
            </a:r>
          </a:p>
          <a:p>
            <a:pPr algn="just">
              <a:lnSpc>
                <a:spcPts val="6660"/>
              </a:lnSpc>
            </a:pPr>
            <a:r>
              <a:rPr lang="en-US" sz="4000" dirty="0" err="1">
                <a:solidFill>
                  <a:srgbClr val="23354B"/>
                </a:solidFill>
                <a:latin typeface="Arimo"/>
                <a:ea typeface="Arimo"/>
                <a:cs typeface="Arimo"/>
                <a:sym typeface="Arimo"/>
              </a:rPr>
              <a:t>membantu</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kepengurusan</a:t>
            </a:r>
            <a:r>
              <a:rPr lang="en-US" sz="4000" dirty="0">
                <a:solidFill>
                  <a:srgbClr val="23354B"/>
                </a:solidFill>
                <a:latin typeface="Arimo"/>
                <a:ea typeface="Arimo"/>
                <a:cs typeface="Arimo"/>
                <a:sym typeface="Arimo"/>
              </a:rPr>
              <a:t> RT </a:t>
            </a:r>
            <a:r>
              <a:rPr lang="en-US" sz="4000" dirty="0" err="1">
                <a:solidFill>
                  <a:srgbClr val="23354B"/>
                </a:solidFill>
                <a:latin typeface="Arimo"/>
                <a:ea typeface="Arimo"/>
                <a:cs typeface="Arimo"/>
                <a:sym typeface="Arimo"/>
              </a:rPr>
              <a:t>dalam</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mengelola</a:t>
            </a:r>
            <a:endParaRPr lang="en-US" sz="4000" dirty="0">
              <a:solidFill>
                <a:srgbClr val="23354B"/>
              </a:solidFill>
              <a:latin typeface="Arimo"/>
              <a:ea typeface="Arimo"/>
              <a:cs typeface="Arimo"/>
              <a:sym typeface="Arimo"/>
            </a:endParaRPr>
          </a:p>
          <a:p>
            <a:pPr algn="just">
              <a:lnSpc>
                <a:spcPts val="6660"/>
              </a:lnSpc>
            </a:pPr>
            <a:r>
              <a:rPr lang="en-US" sz="4000" dirty="0" err="1">
                <a:solidFill>
                  <a:srgbClr val="23354B"/>
                </a:solidFill>
                <a:latin typeface="Arimo"/>
                <a:ea typeface="Arimo"/>
                <a:cs typeface="Arimo"/>
                <a:sym typeface="Arimo"/>
              </a:rPr>
              <a:t>laporan</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secara</a:t>
            </a:r>
            <a:r>
              <a:rPr lang="en-US" sz="4000" dirty="0">
                <a:solidFill>
                  <a:srgbClr val="23354B"/>
                </a:solidFill>
                <a:latin typeface="Arimo"/>
                <a:ea typeface="Arimo"/>
                <a:cs typeface="Arimo"/>
                <a:sym typeface="Arimo"/>
              </a:rPr>
              <a:t> </a:t>
            </a:r>
            <a:r>
              <a:rPr lang="en-US" sz="4000" dirty="0" err="1">
                <a:solidFill>
                  <a:srgbClr val="23354B"/>
                </a:solidFill>
                <a:latin typeface="Arimo"/>
                <a:ea typeface="Arimo"/>
                <a:cs typeface="Arimo"/>
                <a:sym typeface="Arimo"/>
              </a:rPr>
              <a:t>tepat</a:t>
            </a:r>
            <a:r>
              <a:rPr lang="en-US" sz="4000" dirty="0">
                <a:solidFill>
                  <a:srgbClr val="23354B"/>
                </a:solidFill>
                <a:latin typeface="Arimo"/>
                <a:ea typeface="Arimo"/>
                <a:cs typeface="Arimo"/>
                <a:sym typeface="Arimo"/>
              </a:rPr>
              <a:t> dan </a:t>
            </a:r>
            <a:r>
              <a:rPr lang="en-US" sz="4000" dirty="0" err="1">
                <a:solidFill>
                  <a:srgbClr val="23354B"/>
                </a:solidFill>
                <a:latin typeface="Arimo"/>
                <a:ea typeface="Arimo"/>
                <a:cs typeface="Arimo"/>
                <a:sym typeface="Arimo"/>
              </a:rPr>
              <a:t>terorganisir</a:t>
            </a:r>
            <a:r>
              <a:rPr lang="en-US" sz="4000" dirty="0">
                <a:solidFill>
                  <a:srgbClr val="23354B"/>
                </a:solidFill>
                <a:latin typeface="Arimo"/>
                <a:ea typeface="Arimo"/>
                <a:cs typeface="Arimo"/>
                <a:sym typeface="Arimo"/>
              </a:rPr>
              <a:t>. </a:t>
            </a:r>
          </a:p>
        </p:txBody>
      </p:sp>
      <p:sp>
        <p:nvSpPr>
          <p:cNvPr id="10" name="TextBox 10"/>
          <p:cNvSpPr txBox="1"/>
          <p:nvPr/>
        </p:nvSpPr>
        <p:spPr>
          <a:xfrm>
            <a:off x="4922192" y="643613"/>
            <a:ext cx="8308876" cy="1309356"/>
          </a:xfrm>
          <a:prstGeom prst="rect">
            <a:avLst/>
          </a:prstGeom>
        </p:spPr>
        <p:txBody>
          <a:bodyPr lIns="0" tIns="0" rIns="0" bIns="0" rtlCol="0" anchor="t">
            <a:spAutoFit/>
          </a:bodyPr>
          <a:lstStyle/>
          <a:p>
            <a:pPr algn="ctr">
              <a:lnSpc>
                <a:spcPts val="10780"/>
              </a:lnSpc>
              <a:spcBef>
                <a:spcPct val="0"/>
              </a:spcBef>
            </a:pPr>
            <a:r>
              <a:rPr lang="en-US" sz="7700">
                <a:solidFill>
                  <a:srgbClr val="FFFFFF"/>
                </a:solidFill>
                <a:latin typeface="League Spartan"/>
                <a:ea typeface="League Spartan"/>
                <a:cs typeface="League Spartan"/>
                <a:sym typeface="League Spartan"/>
              </a:rPr>
              <a:t>Tujuan Program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p:cNvGrpSpPr/>
        <p:nvPr/>
      </p:nvGrpSpPr>
      <p:grpSpPr>
        <a:xfrm>
          <a:off x="0" y="0"/>
          <a:ext cx="0" cy="0"/>
          <a:chOff x="0" y="0"/>
          <a:chExt cx="0" cy="0"/>
        </a:xfrm>
      </p:grpSpPr>
      <p:sp>
        <p:nvSpPr>
          <p:cNvPr id="2" name="Freeform 2"/>
          <p:cNvSpPr/>
          <p:nvPr/>
        </p:nvSpPr>
        <p:spPr>
          <a:xfrm>
            <a:off x="-437245" y="-273117"/>
            <a:ext cx="19027750" cy="10703110"/>
          </a:xfrm>
          <a:custGeom>
            <a:avLst/>
            <a:gdLst/>
            <a:ahLst/>
            <a:cxnLst/>
            <a:rect l="l" t="t" r="r" b="b"/>
            <a:pathLst>
              <a:path w="19027750" h="10703110">
                <a:moveTo>
                  <a:pt x="0" y="0"/>
                </a:moveTo>
                <a:lnTo>
                  <a:pt x="19027750" y="0"/>
                </a:lnTo>
                <a:lnTo>
                  <a:pt x="19027750" y="10703109"/>
                </a:lnTo>
                <a:lnTo>
                  <a:pt x="0" y="10703109"/>
                </a:lnTo>
                <a:lnTo>
                  <a:pt x="0" y="0"/>
                </a:lnTo>
                <a:close/>
              </a:path>
            </a:pathLst>
          </a:custGeom>
          <a:blipFill>
            <a:blip r:embed="rId2">
              <a:alphaModFix amt="6000"/>
              <a:extLst>
                <a:ext uri="{96DAC541-7B7A-43D3-8B79-37D633B846F1}">
                  <asvg:svgBlip xmlns:asvg="http://schemas.microsoft.com/office/drawing/2016/SVG/main" r:embed="rId3"/>
                </a:ext>
              </a:extLst>
            </a:blip>
            <a:stretch>
              <a:fillRect t="-69598" b="-1068"/>
            </a:stretch>
          </a:blipFill>
        </p:spPr>
      </p:sp>
      <p:grpSp>
        <p:nvGrpSpPr>
          <p:cNvPr id="3" name="Group 3"/>
          <p:cNvGrpSpPr/>
          <p:nvPr/>
        </p:nvGrpSpPr>
        <p:grpSpPr>
          <a:xfrm>
            <a:off x="1028700" y="2220958"/>
            <a:ext cx="16230600" cy="7766568"/>
            <a:chOff x="0" y="0"/>
            <a:chExt cx="4274726" cy="2045516"/>
          </a:xfrm>
        </p:grpSpPr>
        <p:sp>
          <p:nvSpPr>
            <p:cNvPr id="4" name="Freeform 4"/>
            <p:cNvSpPr/>
            <p:nvPr/>
          </p:nvSpPr>
          <p:spPr>
            <a:xfrm>
              <a:off x="0" y="0"/>
              <a:ext cx="4274726" cy="2045516"/>
            </a:xfrm>
            <a:custGeom>
              <a:avLst/>
              <a:gdLst/>
              <a:ahLst/>
              <a:cxnLst/>
              <a:rect l="l" t="t" r="r" b="b"/>
              <a:pathLst>
                <a:path w="4274726" h="2045516">
                  <a:moveTo>
                    <a:pt x="47700" y="0"/>
                  </a:moveTo>
                  <a:lnTo>
                    <a:pt x="4227026" y="0"/>
                  </a:lnTo>
                  <a:cubicBezTo>
                    <a:pt x="4239677" y="0"/>
                    <a:pt x="4251809" y="5025"/>
                    <a:pt x="4260755" y="13971"/>
                  </a:cubicBezTo>
                  <a:cubicBezTo>
                    <a:pt x="4269700" y="22916"/>
                    <a:pt x="4274726" y="35049"/>
                    <a:pt x="4274726" y="47700"/>
                  </a:cubicBezTo>
                  <a:lnTo>
                    <a:pt x="4274726" y="1997816"/>
                  </a:lnTo>
                  <a:cubicBezTo>
                    <a:pt x="4274726" y="2010467"/>
                    <a:pt x="4269700" y="2022600"/>
                    <a:pt x="4260755" y="2031545"/>
                  </a:cubicBezTo>
                  <a:cubicBezTo>
                    <a:pt x="4251809" y="2040490"/>
                    <a:pt x="4239677" y="2045516"/>
                    <a:pt x="4227026" y="2045516"/>
                  </a:cubicBezTo>
                  <a:lnTo>
                    <a:pt x="47700" y="2045516"/>
                  </a:lnTo>
                  <a:cubicBezTo>
                    <a:pt x="35049" y="2045516"/>
                    <a:pt x="22916" y="2040490"/>
                    <a:pt x="13971" y="2031545"/>
                  </a:cubicBezTo>
                  <a:cubicBezTo>
                    <a:pt x="5025" y="2022600"/>
                    <a:pt x="0" y="2010467"/>
                    <a:pt x="0" y="1997816"/>
                  </a:cubicBezTo>
                  <a:lnTo>
                    <a:pt x="0" y="47700"/>
                  </a:lnTo>
                  <a:cubicBezTo>
                    <a:pt x="0" y="35049"/>
                    <a:pt x="5025" y="22916"/>
                    <a:pt x="13971" y="13971"/>
                  </a:cubicBezTo>
                  <a:cubicBezTo>
                    <a:pt x="22916" y="5025"/>
                    <a:pt x="35049" y="0"/>
                    <a:pt x="47700" y="0"/>
                  </a:cubicBezTo>
                  <a:close/>
                </a:path>
              </a:pathLst>
            </a:custGeom>
            <a:solidFill>
              <a:srgbClr val="FFFFFF"/>
            </a:solidFill>
            <a:ln cap="rnd">
              <a:noFill/>
              <a:prstDash val="solid"/>
              <a:round/>
            </a:ln>
          </p:spPr>
        </p:sp>
        <p:sp>
          <p:nvSpPr>
            <p:cNvPr id="5" name="TextBox 5"/>
            <p:cNvSpPr txBox="1"/>
            <p:nvPr/>
          </p:nvSpPr>
          <p:spPr>
            <a:xfrm>
              <a:off x="0" y="-47625"/>
              <a:ext cx="4274726" cy="2093141"/>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7843178"/>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1847792" y="2957659"/>
            <a:ext cx="14774060" cy="5850255"/>
          </a:xfrm>
          <a:prstGeom prst="rect">
            <a:avLst/>
          </a:prstGeom>
        </p:spPr>
        <p:txBody>
          <a:bodyPr lIns="0" tIns="0" rIns="0" bIns="0" rtlCol="0" anchor="t">
            <a:spAutoFit/>
          </a:bodyPr>
          <a:lstStyle/>
          <a:p>
            <a:pPr algn="l">
              <a:lnSpc>
                <a:spcPts val="6660"/>
              </a:lnSpc>
            </a:pPr>
            <a:r>
              <a:rPr lang="en-US" sz="4500">
                <a:solidFill>
                  <a:srgbClr val="23354B"/>
                </a:solidFill>
                <a:latin typeface="Arimo"/>
                <a:ea typeface="Arimo"/>
                <a:cs typeface="Arimo"/>
                <a:sym typeface="Arimo"/>
              </a:rPr>
              <a:t>Pengembangan PEMAS dilakukan dengan fokus pada kemudahan penggunaan dan keamanan data. Sistem dirancang agar mampu menyajikan informasi secara cepat sekaligus menjaga kerahasiaan data pelapor. Selain itu, fitur notifikasi dan tampilan yang lebih sederhana juga membantu proses pelaporan menjadi lebih efektif dan nyaman.</a:t>
            </a:r>
          </a:p>
        </p:txBody>
      </p:sp>
      <p:sp>
        <p:nvSpPr>
          <p:cNvPr id="10" name="TextBox 10"/>
          <p:cNvSpPr txBox="1"/>
          <p:nvPr/>
        </p:nvSpPr>
        <p:spPr>
          <a:xfrm>
            <a:off x="3400524" y="643613"/>
            <a:ext cx="11352213" cy="1309356"/>
          </a:xfrm>
          <a:prstGeom prst="rect">
            <a:avLst/>
          </a:prstGeom>
        </p:spPr>
        <p:txBody>
          <a:bodyPr lIns="0" tIns="0" rIns="0" bIns="0" rtlCol="0" anchor="t">
            <a:spAutoFit/>
          </a:bodyPr>
          <a:lstStyle/>
          <a:p>
            <a:pPr algn="ctr">
              <a:lnSpc>
                <a:spcPts val="10780"/>
              </a:lnSpc>
              <a:spcBef>
                <a:spcPct val="0"/>
              </a:spcBef>
            </a:pPr>
            <a:r>
              <a:rPr lang="en-US" sz="7700">
                <a:solidFill>
                  <a:srgbClr val="FFFFFF"/>
                </a:solidFill>
                <a:latin typeface="League Spartan"/>
                <a:ea typeface="League Spartan"/>
                <a:cs typeface="League Spartan"/>
                <a:sym typeface="League Spartan"/>
              </a:rPr>
              <a:t>Solusi Pengembangan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p:cNvGrpSpPr/>
        <p:nvPr/>
      </p:nvGrpSpPr>
      <p:grpSpPr>
        <a:xfrm>
          <a:off x="0" y="0"/>
          <a:ext cx="0" cy="0"/>
          <a:chOff x="0" y="0"/>
          <a:chExt cx="0" cy="0"/>
        </a:xfrm>
      </p:grpSpPr>
      <p:sp>
        <p:nvSpPr>
          <p:cNvPr id="2" name="Freeform 2"/>
          <p:cNvSpPr/>
          <p:nvPr/>
        </p:nvSpPr>
        <p:spPr>
          <a:xfrm>
            <a:off x="-437245" y="-273117"/>
            <a:ext cx="19027750" cy="10703110"/>
          </a:xfrm>
          <a:custGeom>
            <a:avLst/>
            <a:gdLst/>
            <a:ahLst/>
            <a:cxnLst/>
            <a:rect l="l" t="t" r="r" b="b"/>
            <a:pathLst>
              <a:path w="19027750" h="10703110">
                <a:moveTo>
                  <a:pt x="0" y="0"/>
                </a:moveTo>
                <a:lnTo>
                  <a:pt x="19027750" y="0"/>
                </a:lnTo>
                <a:lnTo>
                  <a:pt x="19027750" y="10703109"/>
                </a:lnTo>
                <a:lnTo>
                  <a:pt x="0" y="10703109"/>
                </a:lnTo>
                <a:lnTo>
                  <a:pt x="0" y="0"/>
                </a:lnTo>
                <a:close/>
              </a:path>
            </a:pathLst>
          </a:custGeom>
          <a:blipFill>
            <a:blip r:embed="rId2">
              <a:alphaModFix amt="6000"/>
              <a:extLst>
                <a:ext uri="{96DAC541-7B7A-43D3-8B79-37D633B846F1}">
                  <asvg:svgBlip xmlns:asvg="http://schemas.microsoft.com/office/drawing/2016/SVG/main" r:embed="rId3"/>
                </a:ext>
              </a:extLst>
            </a:blip>
            <a:stretch>
              <a:fillRect t="-69598" b="-1068"/>
            </a:stretch>
          </a:blipFill>
        </p:spPr>
      </p:sp>
      <p:grpSp>
        <p:nvGrpSpPr>
          <p:cNvPr id="3" name="Group 3"/>
          <p:cNvGrpSpPr/>
          <p:nvPr/>
        </p:nvGrpSpPr>
        <p:grpSpPr>
          <a:xfrm>
            <a:off x="1600200" y="3376332"/>
            <a:ext cx="15659100" cy="6611194"/>
            <a:chOff x="0" y="0"/>
            <a:chExt cx="4274726" cy="2045516"/>
          </a:xfrm>
        </p:grpSpPr>
        <p:sp>
          <p:nvSpPr>
            <p:cNvPr id="4" name="Freeform 4"/>
            <p:cNvSpPr/>
            <p:nvPr/>
          </p:nvSpPr>
          <p:spPr>
            <a:xfrm>
              <a:off x="0" y="0"/>
              <a:ext cx="4274726" cy="2045516"/>
            </a:xfrm>
            <a:custGeom>
              <a:avLst/>
              <a:gdLst/>
              <a:ahLst/>
              <a:cxnLst/>
              <a:rect l="l" t="t" r="r" b="b"/>
              <a:pathLst>
                <a:path w="4274726" h="2045516">
                  <a:moveTo>
                    <a:pt x="47700" y="0"/>
                  </a:moveTo>
                  <a:lnTo>
                    <a:pt x="4227026" y="0"/>
                  </a:lnTo>
                  <a:cubicBezTo>
                    <a:pt x="4239677" y="0"/>
                    <a:pt x="4251809" y="5025"/>
                    <a:pt x="4260755" y="13971"/>
                  </a:cubicBezTo>
                  <a:cubicBezTo>
                    <a:pt x="4269700" y="22916"/>
                    <a:pt x="4274726" y="35049"/>
                    <a:pt x="4274726" y="47700"/>
                  </a:cubicBezTo>
                  <a:lnTo>
                    <a:pt x="4274726" y="1997816"/>
                  </a:lnTo>
                  <a:cubicBezTo>
                    <a:pt x="4274726" y="2010467"/>
                    <a:pt x="4269700" y="2022600"/>
                    <a:pt x="4260755" y="2031545"/>
                  </a:cubicBezTo>
                  <a:cubicBezTo>
                    <a:pt x="4251809" y="2040490"/>
                    <a:pt x="4239677" y="2045516"/>
                    <a:pt x="4227026" y="2045516"/>
                  </a:cubicBezTo>
                  <a:lnTo>
                    <a:pt x="47700" y="2045516"/>
                  </a:lnTo>
                  <a:cubicBezTo>
                    <a:pt x="35049" y="2045516"/>
                    <a:pt x="22916" y="2040490"/>
                    <a:pt x="13971" y="2031545"/>
                  </a:cubicBezTo>
                  <a:cubicBezTo>
                    <a:pt x="5025" y="2022600"/>
                    <a:pt x="0" y="2010467"/>
                    <a:pt x="0" y="1997816"/>
                  </a:cubicBezTo>
                  <a:lnTo>
                    <a:pt x="0" y="47700"/>
                  </a:lnTo>
                  <a:cubicBezTo>
                    <a:pt x="0" y="35049"/>
                    <a:pt x="5025" y="22916"/>
                    <a:pt x="13971" y="13971"/>
                  </a:cubicBezTo>
                  <a:cubicBezTo>
                    <a:pt x="22916" y="5025"/>
                    <a:pt x="35049" y="0"/>
                    <a:pt x="47700" y="0"/>
                  </a:cubicBezTo>
                  <a:close/>
                </a:path>
              </a:pathLst>
            </a:custGeom>
            <a:solidFill>
              <a:srgbClr val="FFFFFF"/>
            </a:solidFill>
            <a:ln cap="rnd">
              <a:noFill/>
              <a:prstDash val="solid"/>
              <a:round/>
            </a:ln>
          </p:spPr>
        </p:sp>
        <p:sp>
          <p:nvSpPr>
            <p:cNvPr id="5" name="TextBox 5"/>
            <p:cNvSpPr txBox="1"/>
            <p:nvPr/>
          </p:nvSpPr>
          <p:spPr>
            <a:xfrm>
              <a:off x="0" y="-47625"/>
              <a:ext cx="4274726" cy="2093141"/>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7843178"/>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2312468" y="4123178"/>
            <a:ext cx="14774060" cy="8854540"/>
          </a:xfrm>
          <a:prstGeom prst="rect">
            <a:avLst/>
          </a:prstGeom>
        </p:spPr>
        <p:txBody>
          <a:bodyPr lIns="0" tIns="0" rIns="0" bIns="0" rtlCol="0" anchor="t">
            <a:spAutoFit/>
          </a:bodyPr>
          <a:lstStyle/>
          <a:p>
            <a:pPr algn="l">
              <a:lnSpc>
                <a:spcPts val="5180"/>
              </a:lnSpc>
            </a:pPr>
            <a:r>
              <a:rPr lang="en-US" sz="3500" b="1" dirty="0">
                <a:solidFill>
                  <a:srgbClr val="23354B"/>
                </a:solidFill>
                <a:latin typeface="Arimo Bold"/>
                <a:ea typeface="Arimo Bold"/>
                <a:cs typeface="Arimo Bold"/>
                <a:sym typeface="Arimo Bold"/>
              </a:rPr>
              <a:t>Manfaat </a:t>
            </a:r>
            <a:r>
              <a:rPr lang="en-US" sz="3500" b="1" dirty="0" err="1">
                <a:solidFill>
                  <a:srgbClr val="23354B"/>
                </a:solidFill>
                <a:latin typeface="Arimo Bold"/>
                <a:ea typeface="Arimo Bold"/>
                <a:cs typeface="Arimo Bold"/>
                <a:sym typeface="Arimo Bold"/>
              </a:rPr>
              <a:t>bagi</a:t>
            </a:r>
            <a:r>
              <a:rPr lang="en-US" sz="3500" b="1" dirty="0">
                <a:solidFill>
                  <a:srgbClr val="23354B"/>
                </a:solidFill>
                <a:latin typeface="Arimo Bold"/>
                <a:ea typeface="Arimo Bold"/>
                <a:cs typeface="Arimo Bold"/>
                <a:sym typeface="Arimo Bold"/>
              </a:rPr>
              <a:t> </a:t>
            </a:r>
            <a:r>
              <a:rPr lang="en-US" sz="3500" b="1" dirty="0" err="1">
                <a:solidFill>
                  <a:srgbClr val="23354B"/>
                </a:solidFill>
                <a:latin typeface="Arimo Bold"/>
                <a:ea typeface="Arimo Bold"/>
                <a:cs typeface="Arimo Bold"/>
                <a:sym typeface="Arimo Bold"/>
              </a:rPr>
              <a:t>masyarakat</a:t>
            </a:r>
            <a:r>
              <a:rPr lang="en-US" sz="3500" b="1" dirty="0">
                <a:solidFill>
                  <a:srgbClr val="23354B"/>
                </a:solidFill>
                <a:latin typeface="Arimo Bold"/>
                <a:ea typeface="Arimo Bold"/>
                <a:cs typeface="Arimo Bold"/>
                <a:sym typeface="Arimo Bold"/>
              </a:rPr>
              <a:t>:</a:t>
            </a:r>
          </a:p>
          <a:p>
            <a:pPr marL="755657" lvl="1" indent="-377829" algn="l">
              <a:lnSpc>
                <a:spcPts val="5180"/>
              </a:lnSpc>
              <a:buFont typeface="Arial"/>
              <a:buChar char="•"/>
            </a:pPr>
            <a:r>
              <a:rPr lang="en-US" sz="3500" dirty="0" err="1">
                <a:solidFill>
                  <a:srgbClr val="23354B"/>
                </a:solidFill>
                <a:latin typeface="Arimo"/>
                <a:ea typeface="Arimo"/>
                <a:cs typeface="Arimo"/>
                <a:sym typeface="Arimo"/>
              </a:rPr>
              <a:t>Pelaporan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lebih</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cepat</a:t>
            </a:r>
            <a:r>
              <a:rPr lang="en-US" sz="3500" dirty="0">
                <a:solidFill>
                  <a:srgbClr val="23354B"/>
                </a:solidFill>
                <a:latin typeface="Arimo"/>
                <a:ea typeface="Arimo"/>
                <a:cs typeface="Arimo"/>
                <a:sym typeface="Arimo"/>
              </a:rPr>
              <a:t> dan </a:t>
            </a:r>
            <a:r>
              <a:rPr lang="en-US" sz="3500" dirty="0" err="1">
                <a:solidFill>
                  <a:srgbClr val="23354B"/>
                </a:solidFill>
                <a:latin typeface="Arimo"/>
                <a:ea typeface="Arimo"/>
                <a:cs typeface="Arimo"/>
                <a:sym typeface="Arimo"/>
              </a:rPr>
              <a:t>tidak</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perlu</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datang</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langsung</a:t>
            </a:r>
            <a:r>
              <a:rPr lang="en-US" sz="3500" dirty="0">
                <a:solidFill>
                  <a:srgbClr val="23354B"/>
                </a:solidFill>
                <a:latin typeface="Arimo"/>
                <a:ea typeface="Arimo"/>
                <a:cs typeface="Arimo"/>
                <a:sym typeface="Arimo"/>
              </a:rPr>
              <a:t>.</a:t>
            </a:r>
          </a:p>
          <a:p>
            <a:pPr marL="755657" lvl="1" indent="-377829" algn="l">
              <a:lnSpc>
                <a:spcPts val="5180"/>
              </a:lnSpc>
              <a:buFont typeface="Arial"/>
              <a:buChar char="•"/>
            </a:pPr>
            <a:r>
              <a:rPr lang="en-US" sz="3500" dirty="0">
                <a:solidFill>
                  <a:srgbClr val="23354B"/>
                </a:solidFill>
                <a:latin typeface="Arimo"/>
                <a:ea typeface="Arimo"/>
                <a:cs typeface="Arimo"/>
                <a:sym typeface="Arimo"/>
              </a:rPr>
              <a:t>Status </a:t>
            </a:r>
            <a:r>
              <a:rPr lang="en-US" sz="3500" dirty="0" err="1">
                <a:solidFill>
                  <a:srgbClr val="23354B"/>
                </a:solidFill>
                <a:latin typeface="Arimo"/>
                <a:ea typeface="Arimo"/>
                <a:cs typeface="Arimo"/>
                <a:sym typeface="Arimo"/>
              </a:rPr>
              <a:t>laporan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dapat</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dipantau</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secara</a:t>
            </a:r>
            <a:r>
              <a:rPr lang="en-US" sz="3500" dirty="0">
                <a:solidFill>
                  <a:srgbClr val="23354B"/>
                </a:solidFill>
                <a:latin typeface="Arimo"/>
                <a:ea typeface="Arimo"/>
                <a:cs typeface="Arimo"/>
                <a:sym typeface="Arimo"/>
              </a:rPr>
              <a:t> real-time.</a:t>
            </a:r>
          </a:p>
          <a:p>
            <a:pPr marL="755657" lvl="1" indent="-377829" algn="l">
              <a:lnSpc>
                <a:spcPts val="5180"/>
              </a:lnSpc>
              <a:buFont typeface="Arial"/>
              <a:buChar char="•"/>
            </a:pPr>
            <a:r>
              <a:rPr lang="en-US" sz="3500" dirty="0">
                <a:solidFill>
                  <a:srgbClr val="23354B"/>
                </a:solidFill>
                <a:latin typeface="Arimo"/>
                <a:ea typeface="Arimo"/>
                <a:cs typeface="Arimo"/>
                <a:sym typeface="Arimo"/>
              </a:rPr>
              <a:t>Data </a:t>
            </a:r>
            <a:r>
              <a:rPr lang="en-US" sz="3500" dirty="0" err="1">
                <a:solidFill>
                  <a:srgbClr val="23354B"/>
                </a:solidFill>
                <a:latin typeface="Arimo"/>
                <a:ea typeface="Arimo"/>
                <a:cs typeface="Arimo"/>
                <a:sym typeface="Arimo"/>
              </a:rPr>
              <a:t>laporan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tersimpan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dengan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lebih</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aman</a:t>
            </a:r>
            <a:r>
              <a:rPr lang="en-US" sz="3500" dirty="0">
                <a:solidFill>
                  <a:srgbClr val="23354B"/>
                </a:solidFill>
                <a:latin typeface="Arimo"/>
                <a:ea typeface="Arimo"/>
                <a:cs typeface="Arimo"/>
                <a:sym typeface="Arimo"/>
              </a:rPr>
              <a:t> dan </a:t>
            </a:r>
            <a:r>
              <a:rPr lang="en-US" sz="3500" dirty="0" err="1">
                <a:solidFill>
                  <a:srgbClr val="23354B"/>
                </a:solidFill>
                <a:latin typeface="Arimo"/>
                <a:ea typeface="Arimo"/>
                <a:cs typeface="Arimo"/>
                <a:sym typeface="Arimo"/>
              </a:rPr>
              <a:t>rapi</a:t>
            </a:r>
            <a:r>
              <a:rPr lang="en-US" sz="3500" dirty="0">
                <a:solidFill>
                  <a:srgbClr val="23354B"/>
                </a:solidFill>
                <a:latin typeface="Arimo"/>
                <a:ea typeface="Arimo"/>
                <a:cs typeface="Arimo"/>
                <a:sym typeface="Arimo"/>
              </a:rPr>
              <a:t>.</a:t>
            </a:r>
          </a:p>
          <a:p>
            <a:pPr algn="l">
              <a:lnSpc>
                <a:spcPts val="5180"/>
              </a:lnSpc>
            </a:pPr>
            <a:r>
              <a:rPr lang="en-US" sz="3500" b="1" dirty="0">
                <a:solidFill>
                  <a:srgbClr val="23354B"/>
                </a:solidFill>
                <a:latin typeface="Arimo Bold"/>
                <a:ea typeface="Arimo Bold"/>
                <a:cs typeface="Arimo Bold"/>
                <a:sym typeface="Arimo Bold"/>
              </a:rPr>
              <a:t>Manfaat </a:t>
            </a:r>
            <a:r>
              <a:rPr lang="en-US" sz="3500" b="1" dirty="0" err="1">
                <a:solidFill>
                  <a:srgbClr val="23354B"/>
                </a:solidFill>
                <a:latin typeface="Arimo Bold"/>
                <a:ea typeface="Arimo Bold"/>
                <a:cs typeface="Arimo Bold"/>
                <a:sym typeface="Arimo Bold"/>
              </a:rPr>
              <a:t>bagi</a:t>
            </a:r>
            <a:r>
              <a:rPr lang="en-US" sz="3500" b="1" dirty="0">
                <a:solidFill>
                  <a:srgbClr val="23354B"/>
                </a:solidFill>
                <a:latin typeface="Arimo Bold"/>
                <a:ea typeface="Arimo Bold"/>
                <a:cs typeface="Arimo Bold"/>
                <a:sym typeface="Arimo Bold"/>
              </a:rPr>
              <a:t> </a:t>
            </a:r>
            <a:r>
              <a:rPr lang="en-US" sz="3500" b="1" dirty="0" err="1">
                <a:solidFill>
                  <a:srgbClr val="23354B"/>
                </a:solidFill>
                <a:latin typeface="Arimo Bold"/>
                <a:ea typeface="Arimo Bold"/>
                <a:cs typeface="Arimo Bold"/>
                <a:sym typeface="Arimo Bold"/>
              </a:rPr>
              <a:t>pengurus</a:t>
            </a:r>
            <a:r>
              <a:rPr lang="en-US" sz="3500" b="1" dirty="0">
                <a:solidFill>
                  <a:srgbClr val="23354B"/>
                </a:solidFill>
                <a:latin typeface="Arimo Bold"/>
                <a:ea typeface="Arimo Bold"/>
                <a:cs typeface="Arimo Bold"/>
                <a:sym typeface="Arimo Bold"/>
              </a:rPr>
              <a:t> RT:</a:t>
            </a:r>
          </a:p>
          <a:p>
            <a:pPr marL="755657" lvl="1" indent="-377829" algn="l">
              <a:lnSpc>
                <a:spcPts val="5180"/>
              </a:lnSpc>
              <a:buFont typeface="Arial"/>
              <a:buChar char="•"/>
            </a:pPr>
            <a:r>
              <a:rPr lang="en-US" sz="3500" dirty="0" err="1">
                <a:solidFill>
                  <a:srgbClr val="23354B"/>
                </a:solidFill>
                <a:latin typeface="Arimo"/>
                <a:ea typeface="Arimo"/>
                <a:cs typeface="Arimo"/>
                <a:sym typeface="Arimo"/>
              </a:rPr>
              <a:t>Mempermudah</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pencatatan</a:t>
            </a:r>
            <a:r>
              <a:rPr lang="en-US" sz="3500" dirty="0">
                <a:solidFill>
                  <a:srgbClr val="23354B"/>
                </a:solidFill>
                <a:latin typeface="Arimo"/>
                <a:ea typeface="Arimo"/>
                <a:cs typeface="Arimo"/>
                <a:sym typeface="Arimo"/>
              </a:rPr>
              <a:t> dan </a:t>
            </a:r>
            <a:r>
              <a:rPr lang="en-US" sz="3500" dirty="0" err="1">
                <a:solidFill>
                  <a:srgbClr val="23354B"/>
                </a:solidFill>
                <a:latin typeface="Arimo"/>
                <a:ea typeface="Arimo"/>
                <a:cs typeface="Arimo"/>
                <a:sym typeface="Arimo"/>
              </a:rPr>
              <a:t>pengelolaan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laporan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masuk</a:t>
            </a:r>
            <a:r>
              <a:rPr lang="en-US" sz="3500" dirty="0">
                <a:solidFill>
                  <a:srgbClr val="23354B"/>
                </a:solidFill>
                <a:latin typeface="Arimo"/>
                <a:ea typeface="Arimo"/>
                <a:cs typeface="Arimo"/>
                <a:sym typeface="Arimo"/>
              </a:rPr>
              <a:t>.</a:t>
            </a:r>
          </a:p>
          <a:p>
            <a:pPr marL="755657" lvl="1" indent="-377829" algn="l">
              <a:lnSpc>
                <a:spcPts val="5180"/>
              </a:lnSpc>
              <a:buFont typeface="Arial"/>
              <a:buChar char="•"/>
            </a:pPr>
            <a:r>
              <a:rPr lang="en-US" sz="3500" dirty="0" err="1">
                <a:solidFill>
                  <a:srgbClr val="23354B"/>
                </a:solidFill>
                <a:latin typeface="Arimo"/>
                <a:ea typeface="Arimo"/>
                <a:cs typeface="Arimo"/>
                <a:sym typeface="Arimo"/>
              </a:rPr>
              <a:t>Mempercepat</a:t>
            </a:r>
            <a:r>
              <a:rPr lang="en-US" sz="3500" dirty="0">
                <a:solidFill>
                  <a:srgbClr val="23354B"/>
                </a:solidFill>
                <a:latin typeface="Arimo"/>
                <a:ea typeface="Arimo"/>
                <a:cs typeface="Arimo"/>
                <a:sym typeface="Arimo"/>
              </a:rPr>
              <a:t> proses </a:t>
            </a:r>
            <a:r>
              <a:rPr lang="en-US" sz="3500" dirty="0" err="1">
                <a:solidFill>
                  <a:srgbClr val="23354B"/>
                </a:solidFill>
                <a:latin typeface="Arimo"/>
                <a:ea typeface="Arimo"/>
                <a:cs typeface="Arimo"/>
                <a:sym typeface="Arimo"/>
              </a:rPr>
              <a:t>pemeriksaan</a:t>
            </a:r>
            <a:r>
              <a:rPr lang="en-US" sz="3500" dirty="0">
                <a:solidFill>
                  <a:srgbClr val="23354B"/>
                </a:solidFill>
                <a:latin typeface="Arimo"/>
                <a:ea typeface="Arimo"/>
                <a:cs typeface="Arimo"/>
                <a:sym typeface="Arimo"/>
              </a:rPr>
              <a:t> dan </a:t>
            </a:r>
            <a:r>
              <a:rPr lang="en-US" sz="3500" dirty="0" err="1">
                <a:solidFill>
                  <a:srgbClr val="23354B"/>
                </a:solidFill>
                <a:latin typeface="Arimo"/>
                <a:ea typeface="Arimo"/>
                <a:cs typeface="Arimo"/>
                <a:sym typeface="Arimo"/>
              </a:rPr>
              <a:t>tindak</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lanjut</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laporan</a:t>
            </a:r>
            <a:r>
              <a:rPr lang="en-US" sz="3500" dirty="0">
                <a:solidFill>
                  <a:srgbClr val="23354B"/>
                </a:solidFill>
                <a:latin typeface="Arimo"/>
                <a:ea typeface="Arimo"/>
                <a:cs typeface="Arimo"/>
                <a:sym typeface="Arimo"/>
              </a:rPr>
              <a:t>.</a:t>
            </a:r>
          </a:p>
          <a:p>
            <a:pPr marL="755657" lvl="1" indent="-377829" algn="l">
              <a:lnSpc>
                <a:spcPts val="5180"/>
              </a:lnSpc>
              <a:buFont typeface="Arial"/>
              <a:buChar char="•"/>
            </a:pPr>
            <a:r>
              <a:rPr lang="en-US" sz="3500" dirty="0" err="1">
                <a:solidFill>
                  <a:srgbClr val="23354B"/>
                </a:solidFill>
                <a:latin typeface="Arimo"/>
                <a:ea typeface="Arimo"/>
                <a:cs typeface="Arimo"/>
                <a:sym typeface="Arimo"/>
              </a:rPr>
              <a:t>Menyediakan</a:t>
            </a:r>
            <a:r>
              <a:rPr lang="en-US" sz="3500" dirty="0">
                <a:solidFill>
                  <a:srgbClr val="23354B"/>
                </a:solidFill>
                <a:latin typeface="Arimo"/>
                <a:ea typeface="Arimo"/>
                <a:cs typeface="Arimo"/>
                <a:sym typeface="Arimo"/>
              </a:rPr>
              <a:t> data yang </a:t>
            </a:r>
            <a:r>
              <a:rPr lang="en-US" sz="3500" dirty="0" err="1">
                <a:solidFill>
                  <a:srgbClr val="23354B"/>
                </a:solidFill>
                <a:latin typeface="Arimo"/>
                <a:ea typeface="Arimo"/>
                <a:cs typeface="Arimo"/>
                <a:sym typeface="Arimo"/>
              </a:rPr>
              <a:t>dapat</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digunakan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sebagai</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dasar</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evaluasi</a:t>
            </a:r>
            <a:r>
              <a:rPr lang="en-US" sz="3500" dirty="0">
                <a:solidFill>
                  <a:srgbClr val="23354B"/>
                </a:solidFill>
                <a:latin typeface="Arimo"/>
                <a:ea typeface="Arimo"/>
                <a:cs typeface="Arimo"/>
                <a:sym typeface="Arimo"/>
              </a:rPr>
              <a:t>.</a:t>
            </a:r>
          </a:p>
          <a:p>
            <a:pPr algn="l">
              <a:lnSpc>
                <a:spcPts val="4884"/>
              </a:lnSpc>
            </a:pPr>
            <a:endParaRPr lang="en-US" sz="3500" dirty="0">
              <a:solidFill>
                <a:srgbClr val="23354B"/>
              </a:solidFill>
              <a:latin typeface="Arimo"/>
              <a:ea typeface="Arimo"/>
              <a:cs typeface="Arimo"/>
              <a:sym typeface="Arimo"/>
            </a:endParaRPr>
          </a:p>
          <a:p>
            <a:pPr algn="l">
              <a:lnSpc>
                <a:spcPts val="5772"/>
              </a:lnSpc>
            </a:pPr>
            <a:endParaRPr lang="en-US" sz="3500" dirty="0">
              <a:solidFill>
                <a:srgbClr val="23354B"/>
              </a:solidFill>
              <a:latin typeface="Arimo"/>
              <a:ea typeface="Arimo"/>
              <a:cs typeface="Arimo"/>
              <a:sym typeface="Arimo"/>
            </a:endParaRPr>
          </a:p>
          <a:p>
            <a:pPr algn="l">
              <a:lnSpc>
                <a:spcPts val="5772"/>
              </a:lnSpc>
            </a:pPr>
            <a:endParaRPr lang="en-US" sz="3500" dirty="0">
              <a:solidFill>
                <a:srgbClr val="23354B"/>
              </a:solidFill>
              <a:latin typeface="Arimo"/>
              <a:ea typeface="Arimo"/>
              <a:cs typeface="Arimo"/>
              <a:sym typeface="Arimo"/>
            </a:endParaRPr>
          </a:p>
          <a:p>
            <a:pPr algn="l">
              <a:lnSpc>
                <a:spcPts val="5772"/>
              </a:lnSpc>
            </a:pPr>
            <a:endParaRPr lang="en-US" sz="3500" dirty="0">
              <a:solidFill>
                <a:srgbClr val="23354B"/>
              </a:solidFill>
              <a:latin typeface="Arimo"/>
              <a:ea typeface="Arimo"/>
              <a:cs typeface="Arimo"/>
              <a:sym typeface="Arimo"/>
            </a:endParaRPr>
          </a:p>
          <a:p>
            <a:pPr algn="l">
              <a:lnSpc>
                <a:spcPts val="5772"/>
              </a:lnSpc>
            </a:pPr>
            <a:endParaRPr lang="en-US" sz="3500" dirty="0">
              <a:solidFill>
                <a:srgbClr val="23354B"/>
              </a:solidFill>
              <a:latin typeface="Arimo"/>
              <a:ea typeface="Arimo"/>
              <a:cs typeface="Arimo"/>
              <a:sym typeface="Arimo"/>
            </a:endParaRPr>
          </a:p>
        </p:txBody>
      </p:sp>
      <p:sp>
        <p:nvSpPr>
          <p:cNvPr id="10" name="TextBox 10"/>
          <p:cNvSpPr txBox="1"/>
          <p:nvPr/>
        </p:nvSpPr>
        <p:spPr>
          <a:xfrm>
            <a:off x="4493369" y="643613"/>
            <a:ext cx="9166523" cy="1309356"/>
          </a:xfrm>
          <a:prstGeom prst="rect">
            <a:avLst/>
          </a:prstGeom>
        </p:spPr>
        <p:txBody>
          <a:bodyPr lIns="0" tIns="0" rIns="0" bIns="0" rtlCol="0" anchor="t">
            <a:spAutoFit/>
          </a:bodyPr>
          <a:lstStyle/>
          <a:p>
            <a:pPr algn="ctr">
              <a:lnSpc>
                <a:spcPts val="10780"/>
              </a:lnSpc>
              <a:spcBef>
                <a:spcPct val="0"/>
              </a:spcBef>
            </a:pPr>
            <a:r>
              <a:rPr lang="en-US" sz="7700" dirty="0">
                <a:solidFill>
                  <a:srgbClr val="FFFFFF"/>
                </a:solidFill>
                <a:latin typeface="League Spartan"/>
                <a:ea typeface="League Spartan"/>
                <a:cs typeface="League Spartan"/>
                <a:sym typeface="League Spartan"/>
              </a:rPr>
              <a:t>Manfaat Program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p:cNvGrpSpPr/>
        <p:nvPr/>
      </p:nvGrpSpPr>
      <p:grpSpPr>
        <a:xfrm>
          <a:off x="0" y="0"/>
          <a:ext cx="0" cy="0"/>
          <a:chOff x="0" y="0"/>
          <a:chExt cx="0" cy="0"/>
        </a:xfrm>
      </p:grpSpPr>
      <p:sp>
        <p:nvSpPr>
          <p:cNvPr id="2" name="Freeform 2"/>
          <p:cNvSpPr/>
          <p:nvPr/>
        </p:nvSpPr>
        <p:spPr>
          <a:xfrm>
            <a:off x="-437245" y="-273117"/>
            <a:ext cx="19027750" cy="10703110"/>
          </a:xfrm>
          <a:custGeom>
            <a:avLst/>
            <a:gdLst/>
            <a:ahLst/>
            <a:cxnLst/>
            <a:rect l="l" t="t" r="r" b="b"/>
            <a:pathLst>
              <a:path w="19027750" h="10703110">
                <a:moveTo>
                  <a:pt x="0" y="0"/>
                </a:moveTo>
                <a:lnTo>
                  <a:pt x="19027750" y="0"/>
                </a:lnTo>
                <a:lnTo>
                  <a:pt x="19027750" y="10703109"/>
                </a:lnTo>
                <a:lnTo>
                  <a:pt x="0" y="10703109"/>
                </a:lnTo>
                <a:lnTo>
                  <a:pt x="0" y="0"/>
                </a:lnTo>
                <a:close/>
              </a:path>
            </a:pathLst>
          </a:custGeom>
          <a:blipFill>
            <a:blip r:embed="rId2">
              <a:alphaModFix amt="6000"/>
              <a:extLst>
                <a:ext uri="{96DAC541-7B7A-43D3-8B79-37D633B846F1}">
                  <asvg:svgBlip xmlns:asvg="http://schemas.microsoft.com/office/drawing/2016/SVG/main" r:embed="rId3"/>
                </a:ext>
              </a:extLst>
            </a:blip>
            <a:stretch>
              <a:fillRect t="-69598" b="-1068"/>
            </a:stretch>
          </a:blipFill>
        </p:spPr>
      </p:sp>
      <p:grpSp>
        <p:nvGrpSpPr>
          <p:cNvPr id="3" name="Group 3"/>
          <p:cNvGrpSpPr/>
          <p:nvPr/>
        </p:nvGrpSpPr>
        <p:grpSpPr>
          <a:xfrm>
            <a:off x="2028129" y="2479315"/>
            <a:ext cx="14097000" cy="7037342"/>
            <a:chOff x="0" y="0"/>
            <a:chExt cx="4274726" cy="2045516"/>
          </a:xfrm>
        </p:grpSpPr>
        <p:sp>
          <p:nvSpPr>
            <p:cNvPr id="4" name="Freeform 4"/>
            <p:cNvSpPr/>
            <p:nvPr/>
          </p:nvSpPr>
          <p:spPr>
            <a:xfrm>
              <a:off x="0" y="0"/>
              <a:ext cx="4274726" cy="2045516"/>
            </a:xfrm>
            <a:custGeom>
              <a:avLst/>
              <a:gdLst/>
              <a:ahLst/>
              <a:cxnLst/>
              <a:rect l="l" t="t" r="r" b="b"/>
              <a:pathLst>
                <a:path w="4274726" h="2045516">
                  <a:moveTo>
                    <a:pt x="47700" y="0"/>
                  </a:moveTo>
                  <a:lnTo>
                    <a:pt x="4227026" y="0"/>
                  </a:lnTo>
                  <a:cubicBezTo>
                    <a:pt x="4239677" y="0"/>
                    <a:pt x="4251809" y="5025"/>
                    <a:pt x="4260755" y="13971"/>
                  </a:cubicBezTo>
                  <a:cubicBezTo>
                    <a:pt x="4269700" y="22916"/>
                    <a:pt x="4274726" y="35049"/>
                    <a:pt x="4274726" y="47700"/>
                  </a:cubicBezTo>
                  <a:lnTo>
                    <a:pt x="4274726" y="1997816"/>
                  </a:lnTo>
                  <a:cubicBezTo>
                    <a:pt x="4274726" y="2010467"/>
                    <a:pt x="4269700" y="2022600"/>
                    <a:pt x="4260755" y="2031545"/>
                  </a:cubicBezTo>
                  <a:cubicBezTo>
                    <a:pt x="4251809" y="2040490"/>
                    <a:pt x="4239677" y="2045516"/>
                    <a:pt x="4227026" y="2045516"/>
                  </a:cubicBezTo>
                  <a:lnTo>
                    <a:pt x="47700" y="2045516"/>
                  </a:lnTo>
                  <a:cubicBezTo>
                    <a:pt x="35049" y="2045516"/>
                    <a:pt x="22916" y="2040490"/>
                    <a:pt x="13971" y="2031545"/>
                  </a:cubicBezTo>
                  <a:cubicBezTo>
                    <a:pt x="5025" y="2022600"/>
                    <a:pt x="0" y="2010467"/>
                    <a:pt x="0" y="1997816"/>
                  </a:cubicBezTo>
                  <a:lnTo>
                    <a:pt x="0" y="47700"/>
                  </a:lnTo>
                  <a:cubicBezTo>
                    <a:pt x="0" y="35049"/>
                    <a:pt x="5025" y="22916"/>
                    <a:pt x="13971" y="13971"/>
                  </a:cubicBezTo>
                  <a:cubicBezTo>
                    <a:pt x="22916" y="5025"/>
                    <a:pt x="35049" y="0"/>
                    <a:pt x="47700" y="0"/>
                  </a:cubicBezTo>
                  <a:close/>
                </a:path>
              </a:pathLst>
            </a:custGeom>
            <a:solidFill>
              <a:srgbClr val="FFFFFF"/>
            </a:solidFill>
            <a:ln cap="rnd">
              <a:noFill/>
              <a:prstDash val="solid"/>
              <a:round/>
            </a:ln>
          </p:spPr>
        </p:sp>
        <p:sp>
          <p:nvSpPr>
            <p:cNvPr id="5" name="TextBox 5"/>
            <p:cNvSpPr txBox="1"/>
            <p:nvPr/>
          </p:nvSpPr>
          <p:spPr>
            <a:xfrm>
              <a:off x="0" y="-47625"/>
              <a:ext cx="4274726" cy="2093141"/>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7843178"/>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2590799" y="3590070"/>
            <a:ext cx="13872859" cy="4689938"/>
          </a:xfrm>
          <a:prstGeom prst="rect">
            <a:avLst/>
          </a:prstGeom>
        </p:spPr>
        <p:txBody>
          <a:bodyPr wrap="square" lIns="0" tIns="0" rIns="0" bIns="0" rtlCol="0" anchor="t">
            <a:spAutoFit/>
          </a:bodyPr>
          <a:lstStyle/>
          <a:p>
            <a:pPr algn="just">
              <a:lnSpc>
                <a:spcPts val="5250"/>
              </a:lnSpc>
            </a:pPr>
            <a:r>
              <a:rPr lang="en-US" sz="3500" dirty="0" err="1">
                <a:solidFill>
                  <a:srgbClr val="23354B"/>
                </a:solidFill>
                <a:latin typeface="Arimo"/>
                <a:ea typeface="Arimo"/>
                <a:cs typeface="Arimo"/>
                <a:sym typeface="Arimo"/>
              </a:rPr>
              <a:t>Konsep</a:t>
            </a:r>
            <a:r>
              <a:rPr lang="en-US" sz="3500" dirty="0">
                <a:solidFill>
                  <a:srgbClr val="23354B"/>
                </a:solidFill>
                <a:latin typeface="Arimo"/>
                <a:ea typeface="Arimo"/>
                <a:cs typeface="Arimo"/>
                <a:sym typeface="Arimo"/>
              </a:rPr>
              <a:t> PEMAS </a:t>
            </a:r>
            <a:r>
              <a:rPr lang="en-US" sz="3500" dirty="0" err="1">
                <a:solidFill>
                  <a:srgbClr val="23354B"/>
                </a:solidFill>
                <a:latin typeface="Arimo"/>
                <a:ea typeface="Arimo"/>
                <a:cs typeface="Arimo"/>
                <a:sym typeface="Arimo"/>
              </a:rPr>
              <a:t>adalah</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menciptakan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sistem</a:t>
            </a:r>
            <a:r>
              <a:rPr lang="en-US" sz="3500" dirty="0">
                <a:solidFill>
                  <a:srgbClr val="23354B"/>
                </a:solidFill>
                <a:latin typeface="Arimo"/>
                <a:ea typeface="Arimo"/>
                <a:cs typeface="Arimo"/>
                <a:sym typeface="Arimo"/>
              </a:rPr>
              <a:t> yang </a:t>
            </a:r>
          </a:p>
          <a:p>
            <a:pPr algn="just">
              <a:lnSpc>
                <a:spcPts val="5250"/>
              </a:lnSpc>
            </a:pPr>
            <a:r>
              <a:rPr lang="en-US" sz="3500" dirty="0" err="1">
                <a:solidFill>
                  <a:srgbClr val="23354B"/>
                </a:solidFill>
                <a:latin typeface="Arimo"/>
                <a:ea typeface="Arimo"/>
                <a:cs typeface="Arimo"/>
                <a:sym typeface="Arimo"/>
              </a:rPr>
              <a:t>dapat</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mempertemukan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masyarakat</a:t>
            </a:r>
            <a:r>
              <a:rPr lang="en-US" sz="3500" dirty="0">
                <a:solidFill>
                  <a:srgbClr val="23354B"/>
                </a:solidFill>
                <a:latin typeface="Arimo"/>
                <a:ea typeface="Arimo"/>
                <a:cs typeface="Arimo"/>
                <a:sym typeface="Arimo"/>
              </a:rPr>
              <a:t> dan </a:t>
            </a:r>
            <a:r>
              <a:rPr lang="en-US" sz="3500" dirty="0" err="1">
                <a:solidFill>
                  <a:srgbClr val="23354B"/>
                </a:solidFill>
                <a:latin typeface="Arimo"/>
                <a:ea typeface="Arimo"/>
                <a:cs typeface="Arimo"/>
                <a:sym typeface="Arimo"/>
              </a:rPr>
              <a:t>pemerintah</a:t>
            </a:r>
            <a:endParaRPr lang="en-US" sz="3500" dirty="0">
              <a:solidFill>
                <a:srgbClr val="23354B"/>
              </a:solidFill>
              <a:latin typeface="Arimo"/>
              <a:ea typeface="Arimo"/>
              <a:cs typeface="Arimo"/>
              <a:sym typeface="Arimo"/>
            </a:endParaRPr>
          </a:p>
          <a:p>
            <a:pPr algn="just">
              <a:lnSpc>
                <a:spcPts val="5250"/>
              </a:lnSpc>
            </a:pPr>
            <a:r>
              <a:rPr lang="en-US" sz="3500" dirty="0" err="1">
                <a:solidFill>
                  <a:srgbClr val="23354B"/>
                </a:solidFill>
                <a:latin typeface="Arimo"/>
                <a:ea typeface="Arimo"/>
                <a:cs typeface="Arimo"/>
                <a:sym typeface="Arimo"/>
              </a:rPr>
              <a:t>dalam</a:t>
            </a:r>
            <a:r>
              <a:rPr lang="en-US" sz="3500" dirty="0">
                <a:solidFill>
                  <a:srgbClr val="23354B"/>
                </a:solidFill>
                <a:latin typeface="Arimo"/>
                <a:ea typeface="Arimo"/>
                <a:cs typeface="Arimo"/>
                <a:sym typeface="Arimo"/>
              </a:rPr>
              <a:t> proses </a:t>
            </a:r>
            <a:r>
              <a:rPr lang="en-US" sz="3500" dirty="0" err="1">
                <a:solidFill>
                  <a:srgbClr val="23354B"/>
                </a:solidFill>
                <a:latin typeface="Arimo"/>
                <a:ea typeface="Arimo"/>
                <a:cs typeface="Arimo"/>
                <a:sym typeface="Arimo"/>
              </a:rPr>
              <a:t>pelaporan</a:t>
            </a:r>
            <a:r>
              <a:rPr lang="en-US" sz="3500" dirty="0">
                <a:solidFill>
                  <a:srgbClr val="23354B"/>
                </a:solidFill>
                <a:latin typeface="Arimo"/>
                <a:ea typeface="Arimo"/>
                <a:cs typeface="Arimo"/>
                <a:sym typeface="Arimo"/>
              </a:rPr>
              <a:t> yang </a:t>
            </a:r>
            <a:r>
              <a:rPr lang="en-US" sz="3500" dirty="0" err="1">
                <a:solidFill>
                  <a:srgbClr val="23354B"/>
                </a:solidFill>
                <a:latin typeface="Arimo"/>
                <a:ea typeface="Arimo"/>
                <a:cs typeface="Arimo"/>
                <a:sym typeface="Arimo"/>
              </a:rPr>
              <a:t>lebih</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transparan</a:t>
            </a:r>
            <a:r>
              <a:rPr lang="en-US" sz="3500" dirty="0">
                <a:solidFill>
                  <a:srgbClr val="23354B"/>
                </a:solidFill>
                <a:latin typeface="Arimo"/>
                <a:ea typeface="Arimo"/>
                <a:cs typeface="Arimo"/>
                <a:sym typeface="Arimo"/>
              </a:rPr>
              <a:t> dan</a:t>
            </a:r>
          </a:p>
          <a:p>
            <a:pPr algn="just">
              <a:lnSpc>
                <a:spcPts val="5250"/>
              </a:lnSpc>
            </a:pPr>
            <a:r>
              <a:rPr lang="en-US" sz="3500" dirty="0" err="1">
                <a:solidFill>
                  <a:srgbClr val="23354B"/>
                </a:solidFill>
                <a:latin typeface="Arimo"/>
                <a:ea typeface="Arimo"/>
                <a:cs typeface="Arimo"/>
                <a:sym typeface="Arimo"/>
              </a:rPr>
              <a:t>terstruktur</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Aplikasi</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ini</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memfasilitasi</a:t>
            </a:r>
            <a:r>
              <a:rPr lang="en-US" sz="3500" dirty="0">
                <a:solidFill>
                  <a:srgbClr val="23354B"/>
                </a:solidFill>
                <a:latin typeface="Arimo"/>
                <a:ea typeface="Arimo"/>
                <a:cs typeface="Arimo"/>
                <a:sym typeface="Arimo"/>
              </a:rPr>
              <a:t> proses </a:t>
            </a:r>
          </a:p>
          <a:p>
            <a:pPr algn="just">
              <a:lnSpc>
                <a:spcPts val="5250"/>
              </a:lnSpc>
            </a:pPr>
            <a:r>
              <a:rPr lang="en-US" sz="3500" dirty="0" err="1">
                <a:solidFill>
                  <a:srgbClr val="23354B"/>
                </a:solidFill>
                <a:latin typeface="Arimo"/>
                <a:ea typeface="Arimo"/>
                <a:cs typeface="Arimo"/>
                <a:sym typeface="Arimo"/>
              </a:rPr>
              <a:t>pengaduan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mulai</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dari</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pengiriman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laporan</a:t>
            </a:r>
            <a:r>
              <a:rPr lang="en-US" sz="3500" dirty="0">
                <a:solidFill>
                  <a:srgbClr val="23354B"/>
                </a:solidFill>
                <a:latin typeface="Arimo"/>
                <a:ea typeface="Arimo"/>
                <a:cs typeface="Arimo"/>
                <a:sym typeface="Arimo"/>
              </a:rPr>
              <a:t>, </a:t>
            </a:r>
          </a:p>
          <a:p>
            <a:pPr algn="just">
              <a:lnSpc>
                <a:spcPts val="5250"/>
              </a:lnSpc>
            </a:pPr>
            <a:r>
              <a:rPr lang="en-US" sz="3500" dirty="0" err="1">
                <a:solidFill>
                  <a:srgbClr val="23354B"/>
                </a:solidFill>
                <a:latin typeface="Arimo"/>
                <a:ea typeface="Arimo"/>
                <a:cs typeface="Arimo"/>
                <a:sym typeface="Arimo"/>
              </a:rPr>
              <a:t>verifikasi</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laporan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hingga</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pemberian</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tanggapan</a:t>
            </a:r>
            <a:r>
              <a:rPr lang="en-US" sz="3500" dirty="0">
                <a:solidFill>
                  <a:srgbClr val="23354B"/>
                </a:solidFill>
                <a:latin typeface="Arimo"/>
                <a:ea typeface="Arimo"/>
                <a:cs typeface="Arimo"/>
                <a:sym typeface="Arimo"/>
              </a:rPr>
              <a:t> </a:t>
            </a:r>
          </a:p>
          <a:p>
            <a:pPr algn="just">
              <a:lnSpc>
                <a:spcPts val="5250"/>
              </a:lnSpc>
            </a:pPr>
            <a:r>
              <a:rPr lang="en-US" sz="3500" dirty="0">
                <a:solidFill>
                  <a:srgbClr val="23354B"/>
                </a:solidFill>
                <a:latin typeface="Arimo"/>
                <a:ea typeface="Arimo"/>
                <a:cs typeface="Arimo"/>
                <a:sym typeface="Arimo"/>
              </a:rPr>
              <a:t>dan </a:t>
            </a:r>
            <a:r>
              <a:rPr lang="en-US" sz="3500" dirty="0" err="1">
                <a:solidFill>
                  <a:srgbClr val="23354B"/>
                </a:solidFill>
                <a:latin typeface="Arimo"/>
                <a:ea typeface="Arimo"/>
                <a:cs typeface="Arimo"/>
                <a:sym typeface="Arimo"/>
              </a:rPr>
              <a:t>penetapan</a:t>
            </a:r>
            <a:r>
              <a:rPr lang="en-US" sz="3500" dirty="0">
                <a:solidFill>
                  <a:srgbClr val="23354B"/>
                </a:solidFill>
                <a:latin typeface="Arimo"/>
                <a:ea typeface="Arimo"/>
                <a:cs typeface="Arimo"/>
                <a:sym typeface="Arimo"/>
              </a:rPr>
              <a:t> status </a:t>
            </a:r>
            <a:r>
              <a:rPr lang="en-US" sz="3500" dirty="0" err="1">
                <a:solidFill>
                  <a:srgbClr val="23354B"/>
                </a:solidFill>
                <a:latin typeface="Arimo"/>
                <a:ea typeface="Arimo"/>
                <a:cs typeface="Arimo"/>
                <a:sym typeface="Arimo"/>
              </a:rPr>
              <a:t>akhir</a:t>
            </a:r>
            <a:r>
              <a:rPr lang="en-US" sz="3500" dirty="0">
                <a:solidFill>
                  <a:srgbClr val="23354B"/>
                </a:solidFill>
                <a:latin typeface="Arimo"/>
                <a:ea typeface="Arimo"/>
                <a:cs typeface="Arimo"/>
                <a:sym typeface="Arimo"/>
              </a:rPr>
              <a:t>.</a:t>
            </a:r>
          </a:p>
        </p:txBody>
      </p:sp>
      <p:sp>
        <p:nvSpPr>
          <p:cNvPr id="10" name="TextBox 10"/>
          <p:cNvSpPr txBox="1"/>
          <p:nvPr/>
        </p:nvSpPr>
        <p:spPr>
          <a:xfrm>
            <a:off x="3076822" y="643613"/>
            <a:ext cx="11999615" cy="1309356"/>
          </a:xfrm>
          <a:prstGeom prst="rect">
            <a:avLst/>
          </a:prstGeom>
        </p:spPr>
        <p:txBody>
          <a:bodyPr lIns="0" tIns="0" rIns="0" bIns="0" rtlCol="0" anchor="t">
            <a:spAutoFit/>
          </a:bodyPr>
          <a:lstStyle/>
          <a:p>
            <a:pPr algn="ctr">
              <a:lnSpc>
                <a:spcPts val="10780"/>
              </a:lnSpc>
              <a:spcBef>
                <a:spcPct val="0"/>
              </a:spcBef>
            </a:pPr>
            <a:r>
              <a:rPr lang="en-US" sz="7700">
                <a:solidFill>
                  <a:srgbClr val="FFFFFF"/>
                </a:solidFill>
                <a:latin typeface="League Spartan"/>
                <a:ea typeface="League Spartan"/>
                <a:cs typeface="League Spartan"/>
                <a:sym typeface="League Spartan"/>
              </a:rPr>
              <a:t>Konsep Aplikasi PEMAS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p:cNvGrpSpPr/>
        <p:nvPr/>
      </p:nvGrpSpPr>
      <p:grpSpPr>
        <a:xfrm>
          <a:off x="0" y="0"/>
          <a:ext cx="0" cy="0"/>
          <a:chOff x="0" y="0"/>
          <a:chExt cx="0" cy="0"/>
        </a:xfrm>
      </p:grpSpPr>
      <p:sp>
        <p:nvSpPr>
          <p:cNvPr id="2" name="Freeform 2"/>
          <p:cNvSpPr/>
          <p:nvPr/>
        </p:nvSpPr>
        <p:spPr>
          <a:xfrm>
            <a:off x="-437245" y="-273117"/>
            <a:ext cx="19027750" cy="10703110"/>
          </a:xfrm>
          <a:custGeom>
            <a:avLst/>
            <a:gdLst/>
            <a:ahLst/>
            <a:cxnLst/>
            <a:rect l="l" t="t" r="r" b="b"/>
            <a:pathLst>
              <a:path w="19027750" h="10703110">
                <a:moveTo>
                  <a:pt x="0" y="0"/>
                </a:moveTo>
                <a:lnTo>
                  <a:pt x="19027750" y="0"/>
                </a:lnTo>
                <a:lnTo>
                  <a:pt x="19027750" y="10703109"/>
                </a:lnTo>
                <a:lnTo>
                  <a:pt x="0" y="10703109"/>
                </a:lnTo>
                <a:lnTo>
                  <a:pt x="0" y="0"/>
                </a:lnTo>
                <a:close/>
              </a:path>
            </a:pathLst>
          </a:custGeom>
          <a:blipFill>
            <a:blip r:embed="rId2">
              <a:alphaModFix amt="6000"/>
              <a:extLst>
                <a:ext uri="{96DAC541-7B7A-43D3-8B79-37D633B846F1}">
                  <asvg:svgBlip xmlns:asvg="http://schemas.microsoft.com/office/drawing/2016/SVG/main" r:embed="rId3"/>
                </a:ext>
              </a:extLst>
            </a:blip>
            <a:stretch>
              <a:fillRect t="-69598" b="-1068"/>
            </a:stretch>
          </a:blipFill>
        </p:spPr>
      </p:sp>
      <p:grpSp>
        <p:nvGrpSpPr>
          <p:cNvPr id="3" name="Group 3"/>
          <p:cNvGrpSpPr/>
          <p:nvPr/>
        </p:nvGrpSpPr>
        <p:grpSpPr>
          <a:xfrm>
            <a:off x="1487438" y="3052162"/>
            <a:ext cx="15313124" cy="4985469"/>
            <a:chOff x="0" y="0"/>
            <a:chExt cx="4033086" cy="1313045"/>
          </a:xfrm>
        </p:grpSpPr>
        <p:sp>
          <p:nvSpPr>
            <p:cNvPr id="4" name="Freeform 4"/>
            <p:cNvSpPr/>
            <p:nvPr/>
          </p:nvSpPr>
          <p:spPr>
            <a:xfrm>
              <a:off x="0" y="0"/>
              <a:ext cx="4033086" cy="1313045"/>
            </a:xfrm>
            <a:custGeom>
              <a:avLst/>
              <a:gdLst/>
              <a:ahLst/>
              <a:cxnLst/>
              <a:rect l="l" t="t" r="r" b="b"/>
              <a:pathLst>
                <a:path w="4033086" h="1313045">
                  <a:moveTo>
                    <a:pt x="50557" y="0"/>
                  </a:moveTo>
                  <a:lnTo>
                    <a:pt x="3982529" y="0"/>
                  </a:lnTo>
                  <a:cubicBezTo>
                    <a:pt x="3995937" y="0"/>
                    <a:pt x="4008797" y="5327"/>
                    <a:pt x="4018278" y="14808"/>
                  </a:cubicBezTo>
                  <a:cubicBezTo>
                    <a:pt x="4027760" y="24289"/>
                    <a:pt x="4033086" y="37149"/>
                    <a:pt x="4033086" y="50557"/>
                  </a:cubicBezTo>
                  <a:lnTo>
                    <a:pt x="4033086" y="1262488"/>
                  </a:lnTo>
                  <a:cubicBezTo>
                    <a:pt x="4033086" y="1290410"/>
                    <a:pt x="4010451" y="1313045"/>
                    <a:pt x="3982529" y="1313045"/>
                  </a:cubicBezTo>
                  <a:lnTo>
                    <a:pt x="50557" y="1313045"/>
                  </a:lnTo>
                  <a:cubicBezTo>
                    <a:pt x="22635" y="1313045"/>
                    <a:pt x="0" y="1290410"/>
                    <a:pt x="0" y="1262488"/>
                  </a:cubicBezTo>
                  <a:lnTo>
                    <a:pt x="0" y="50557"/>
                  </a:lnTo>
                  <a:cubicBezTo>
                    <a:pt x="0" y="22635"/>
                    <a:pt x="22635" y="0"/>
                    <a:pt x="50557" y="0"/>
                  </a:cubicBezTo>
                  <a:close/>
                </a:path>
              </a:pathLst>
            </a:custGeom>
            <a:solidFill>
              <a:srgbClr val="FFFFFF"/>
            </a:solidFill>
            <a:ln cap="rnd">
              <a:noFill/>
              <a:prstDash val="solid"/>
              <a:round/>
            </a:ln>
          </p:spPr>
        </p:sp>
        <p:sp>
          <p:nvSpPr>
            <p:cNvPr id="5" name="TextBox 5"/>
            <p:cNvSpPr txBox="1"/>
            <p:nvPr/>
          </p:nvSpPr>
          <p:spPr>
            <a:xfrm>
              <a:off x="0" y="-47625"/>
              <a:ext cx="4033086" cy="1360670"/>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0" y="7843178"/>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2026502" y="3631793"/>
            <a:ext cx="14774060" cy="6979026"/>
          </a:xfrm>
          <a:prstGeom prst="rect">
            <a:avLst/>
          </a:prstGeom>
        </p:spPr>
        <p:txBody>
          <a:bodyPr lIns="0" tIns="0" rIns="0" bIns="0" rtlCol="0" anchor="t">
            <a:spAutoFit/>
          </a:bodyPr>
          <a:lstStyle/>
          <a:p>
            <a:pPr marL="755657" lvl="1" indent="-377829" algn="l">
              <a:lnSpc>
                <a:spcPts val="5285"/>
              </a:lnSpc>
              <a:buAutoNum type="arabicPeriod"/>
            </a:pPr>
            <a:r>
              <a:rPr lang="en-US" sz="3500" dirty="0" err="1">
                <a:solidFill>
                  <a:srgbClr val="23354B"/>
                </a:solidFill>
                <a:latin typeface="Arimo"/>
                <a:ea typeface="Arimo"/>
                <a:cs typeface="Arimo"/>
                <a:sym typeface="Arimo"/>
              </a:rPr>
              <a:t>Menggunakan</a:t>
            </a:r>
            <a:r>
              <a:rPr lang="en-US" sz="3500" dirty="0">
                <a:solidFill>
                  <a:srgbClr val="23354B"/>
                </a:solidFill>
                <a:latin typeface="Arimo"/>
                <a:ea typeface="Arimo"/>
                <a:cs typeface="Arimo"/>
                <a:sym typeface="Arimo"/>
              </a:rPr>
              <a:t> framework Laravel dan Tailwind CSS </a:t>
            </a:r>
            <a:r>
              <a:rPr lang="en-US" sz="3500" dirty="0" err="1">
                <a:solidFill>
                  <a:srgbClr val="23354B"/>
                </a:solidFill>
                <a:latin typeface="Arimo"/>
                <a:ea typeface="Arimo"/>
                <a:cs typeface="Arimo"/>
                <a:sym typeface="Arimo"/>
              </a:rPr>
              <a:t>untuk</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pengembangan</a:t>
            </a:r>
            <a:r>
              <a:rPr lang="en-US" sz="3500" dirty="0">
                <a:solidFill>
                  <a:srgbClr val="23354B"/>
                </a:solidFill>
                <a:latin typeface="Arimo"/>
                <a:ea typeface="Arimo"/>
                <a:cs typeface="Arimo"/>
                <a:sym typeface="Arimo"/>
              </a:rPr>
              <a:t> web.</a:t>
            </a:r>
          </a:p>
          <a:p>
            <a:pPr marL="755657" lvl="1" indent="-377829" algn="l">
              <a:lnSpc>
                <a:spcPts val="5285"/>
              </a:lnSpc>
              <a:buAutoNum type="arabicPeriod"/>
            </a:pPr>
            <a:r>
              <a:rPr lang="en-US" sz="3500" dirty="0">
                <a:solidFill>
                  <a:srgbClr val="23354B"/>
                </a:solidFill>
                <a:latin typeface="Arimo"/>
                <a:ea typeface="Arimo"/>
                <a:cs typeface="Arimo"/>
                <a:sym typeface="Arimo"/>
              </a:rPr>
              <a:t>MySQL </a:t>
            </a:r>
            <a:r>
              <a:rPr lang="en-US" sz="3500" dirty="0" err="1">
                <a:solidFill>
                  <a:srgbClr val="23354B"/>
                </a:solidFill>
                <a:latin typeface="Arimo"/>
                <a:ea typeface="Arimo"/>
                <a:cs typeface="Arimo"/>
                <a:sym typeface="Arimo"/>
              </a:rPr>
              <a:t>sebagai</a:t>
            </a:r>
            <a:r>
              <a:rPr lang="en-US" sz="3500" dirty="0">
                <a:solidFill>
                  <a:srgbClr val="23354B"/>
                </a:solidFill>
                <a:latin typeface="Arimo"/>
                <a:ea typeface="Arimo"/>
                <a:cs typeface="Arimo"/>
                <a:sym typeface="Arimo"/>
              </a:rPr>
              <a:t> database.</a:t>
            </a:r>
          </a:p>
          <a:p>
            <a:pPr marL="755657" lvl="1" indent="-377829" algn="l">
              <a:lnSpc>
                <a:spcPts val="5285"/>
              </a:lnSpc>
              <a:buAutoNum type="arabicPeriod"/>
            </a:pPr>
            <a:r>
              <a:rPr lang="en-US" sz="3500" dirty="0" err="1">
                <a:solidFill>
                  <a:srgbClr val="23354B"/>
                </a:solidFill>
                <a:latin typeface="Arimo"/>
                <a:ea typeface="Arimo"/>
                <a:cs typeface="Arimo"/>
                <a:sym typeface="Arimo"/>
              </a:rPr>
              <a:t>Enkripsi</a:t>
            </a:r>
            <a:r>
              <a:rPr lang="en-US" sz="3500" dirty="0">
                <a:solidFill>
                  <a:srgbClr val="23354B"/>
                </a:solidFill>
                <a:latin typeface="Arimo"/>
                <a:ea typeface="Arimo"/>
                <a:cs typeface="Arimo"/>
                <a:sym typeface="Arimo"/>
              </a:rPr>
              <a:t> dan </a:t>
            </a:r>
            <a:r>
              <a:rPr lang="en-US" sz="3500" dirty="0" err="1">
                <a:solidFill>
                  <a:srgbClr val="23354B"/>
                </a:solidFill>
                <a:latin typeface="Arimo"/>
                <a:ea typeface="Arimo"/>
                <a:cs typeface="Arimo"/>
                <a:sym typeface="Arimo"/>
              </a:rPr>
              <a:t>autentikasi</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untuk</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menjaga</a:t>
            </a:r>
            <a:r>
              <a:rPr lang="en-US" sz="3500" dirty="0">
                <a:solidFill>
                  <a:srgbClr val="23354B"/>
                </a:solidFill>
                <a:latin typeface="Arimo"/>
                <a:ea typeface="Arimo"/>
                <a:cs typeface="Arimo"/>
                <a:sym typeface="Arimo"/>
              </a:rPr>
              <a:t> </a:t>
            </a:r>
            <a:r>
              <a:rPr lang="en-US" sz="3500" dirty="0" err="1">
                <a:solidFill>
                  <a:srgbClr val="23354B"/>
                </a:solidFill>
                <a:latin typeface="Arimo"/>
                <a:ea typeface="Arimo"/>
                <a:cs typeface="Arimo"/>
                <a:sym typeface="Arimo"/>
              </a:rPr>
              <a:t>keamanan</a:t>
            </a:r>
            <a:r>
              <a:rPr lang="en-US" sz="3500" dirty="0">
                <a:solidFill>
                  <a:srgbClr val="23354B"/>
                </a:solidFill>
                <a:latin typeface="Arimo"/>
                <a:ea typeface="Arimo"/>
                <a:cs typeface="Arimo"/>
                <a:sym typeface="Arimo"/>
              </a:rPr>
              <a:t> data </a:t>
            </a:r>
            <a:r>
              <a:rPr lang="en-US" sz="3500" dirty="0" err="1">
                <a:solidFill>
                  <a:srgbClr val="23354B"/>
                </a:solidFill>
                <a:latin typeface="Arimo"/>
                <a:ea typeface="Arimo"/>
                <a:cs typeface="Arimo"/>
                <a:sym typeface="Arimo"/>
              </a:rPr>
              <a:t>pengguna</a:t>
            </a:r>
            <a:r>
              <a:rPr lang="en-US" sz="3500" dirty="0">
                <a:solidFill>
                  <a:srgbClr val="23354B"/>
                </a:solidFill>
                <a:latin typeface="Arimo"/>
                <a:ea typeface="Arimo"/>
                <a:cs typeface="Arimo"/>
                <a:sym typeface="Arimo"/>
              </a:rPr>
              <a:t>.</a:t>
            </a:r>
          </a:p>
          <a:p>
            <a:pPr algn="l">
              <a:lnSpc>
                <a:spcPts val="5285"/>
              </a:lnSpc>
            </a:pPr>
            <a:endParaRPr lang="en-US" sz="3500" dirty="0">
              <a:solidFill>
                <a:srgbClr val="23354B"/>
              </a:solidFill>
              <a:latin typeface="Arimo"/>
              <a:ea typeface="Arimo"/>
              <a:cs typeface="Arimo"/>
              <a:sym typeface="Arimo"/>
            </a:endParaRPr>
          </a:p>
          <a:p>
            <a:pPr algn="l">
              <a:lnSpc>
                <a:spcPts val="4983"/>
              </a:lnSpc>
            </a:pPr>
            <a:endParaRPr lang="en-US" sz="3500" dirty="0">
              <a:solidFill>
                <a:srgbClr val="23354B"/>
              </a:solidFill>
              <a:latin typeface="Arimo"/>
              <a:ea typeface="Arimo"/>
              <a:cs typeface="Arimo"/>
              <a:sym typeface="Arimo"/>
            </a:endParaRPr>
          </a:p>
          <a:p>
            <a:pPr algn="l">
              <a:lnSpc>
                <a:spcPts val="5889"/>
              </a:lnSpc>
            </a:pPr>
            <a:endParaRPr lang="en-US" sz="3500" dirty="0">
              <a:solidFill>
                <a:srgbClr val="23354B"/>
              </a:solidFill>
              <a:latin typeface="Arimo"/>
              <a:ea typeface="Arimo"/>
              <a:cs typeface="Arimo"/>
              <a:sym typeface="Arimo"/>
            </a:endParaRPr>
          </a:p>
          <a:p>
            <a:pPr algn="l">
              <a:lnSpc>
                <a:spcPts val="5889"/>
              </a:lnSpc>
            </a:pPr>
            <a:endParaRPr lang="en-US" sz="3500" dirty="0">
              <a:solidFill>
                <a:srgbClr val="23354B"/>
              </a:solidFill>
              <a:latin typeface="Arimo"/>
              <a:ea typeface="Arimo"/>
              <a:cs typeface="Arimo"/>
              <a:sym typeface="Arimo"/>
            </a:endParaRPr>
          </a:p>
          <a:p>
            <a:pPr algn="l">
              <a:lnSpc>
                <a:spcPts val="5889"/>
              </a:lnSpc>
            </a:pPr>
            <a:endParaRPr lang="en-US" sz="3500" dirty="0">
              <a:solidFill>
                <a:srgbClr val="23354B"/>
              </a:solidFill>
              <a:latin typeface="Arimo"/>
              <a:ea typeface="Arimo"/>
              <a:cs typeface="Arimo"/>
              <a:sym typeface="Arimo"/>
            </a:endParaRPr>
          </a:p>
          <a:p>
            <a:pPr algn="l">
              <a:lnSpc>
                <a:spcPts val="5889"/>
              </a:lnSpc>
            </a:pPr>
            <a:endParaRPr lang="en-US" sz="3500" dirty="0">
              <a:solidFill>
                <a:srgbClr val="23354B"/>
              </a:solidFill>
              <a:latin typeface="Arimo"/>
              <a:ea typeface="Arimo"/>
              <a:cs typeface="Arimo"/>
              <a:sym typeface="Arimo"/>
            </a:endParaRPr>
          </a:p>
        </p:txBody>
      </p:sp>
      <p:sp>
        <p:nvSpPr>
          <p:cNvPr id="10" name="TextBox 10"/>
          <p:cNvSpPr txBox="1"/>
          <p:nvPr/>
        </p:nvSpPr>
        <p:spPr>
          <a:xfrm>
            <a:off x="2216695" y="997715"/>
            <a:ext cx="13719870" cy="1309356"/>
          </a:xfrm>
          <a:prstGeom prst="rect">
            <a:avLst/>
          </a:prstGeom>
        </p:spPr>
        <p:txBody>
          <a:bodyPr lIns="0" tIns="0" rIns="0" bIns="0" rtlCol="0" anchor="t">
            <a:spAutoFit/>
          </a:bodyPr>
          <a:lstStyle/>
          <a:p>
            <a:pPr algn="ctr">
              <a:lnSpc>
                <a:spcPts val="10780"/>
              </a:lnSpc>
              <a:spcBef>
                <a:spcPct val="0"/>
              </a:spcBef>
            </a:pPr>
            <a:r>
              <a:rPr lang="en-US" sz="7700" dirty="0" err="1">
                <a:solidFill>
                  <a:srgbClr val="FFFFFF"/>
                </a:solidFill>
                <a:latin typeface="League Spartan"/>
                <a:ea typeface="League Spartan"/>
                <a:cs typeface="League Spartan"/>
                <a:sym typeface="League Spartan"/>
              </a:rPr>
              <a:t>Teknologi</a:t>
            </a:r>
            <a:r>
              <a:rPr lang="en-US" sz="7700" dirty="0">
                <a:solidFill>
                  <a:srgbClr val="FFFFFF"/>
                </a:solidFill>
                <a:latin typeface="League Spartan"/>
                <a:ea typeface="League Spartan"/>
                <a:cs typeface="League Spartan"/>
                <a:sym typeface="League Spartan"/>
              </a:rPr>
              <a:t> yang </a:t>
            </a:r>
            <a:r>
              <a:rPr lang="en-US" sz="7700" dirty="0" err="1">
                <a:solidFill>
                  <a:srgbClr val="FFFFFF"/>
                </a:solidFill>
                <a:latin typeface="League Spartan"/>
                <a:ea typeface="League Spartan"/>
                <a:cs typeface="League Spartan"/>
                <a:sym typeface="League Spartan"/>
              </a:rPr>
              <a:t>Digunakan</a:t>
            </a:r>
            <a:endParaRPr lang="en-US" sz="7700" dirty="0">
              <a:solidFill>
                <a:srgbClr val="FFFFFF"/>
              </a:solidFill>
              <a:latin typeface="League Spartan"/>
              <a:ea typeface="League Spartan"/>
              <a:cs typeface="League Spartan"/>
              <a:sym typeface="League Spart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a:extLst>
            <a:ext uri="{FF2B5EF4-FFF2-40B4-BE49-F238E27FC236}">
              <a16:creationId xmlns:a16="http://schemas.microsoft.com/office/drawing/2014/main" id="{3D2F2F40-CCA7-4BBE-F2EB-4BD3DAC6235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A2E242-F51B-AD5E-5409-3C58B1B0FEF1}"/>
              </a:ext>
            </a:extLst>
          </p:cNvPr>
          <p:cNvSpPr/>
          <p:nvPr/>
        </p:nvSpPr>
        <p:spPr>
          <a:xfrm>
            <a:off x="-580194" y="-208055"/>
            <a:ext cx="19027750" cy="10703110"/>
          </a:xfrm>
          <a:custGeom>
            <a:avLst/>
            <a:gdLst/>
            <a:ahLst/>
            <a:cxnLst/>
            <a:rect l="l" t="t" r="r" b="b"/>
            <a:pathLst>
              <a:path w="19027750" h="10703110">
                <a:moveTo>
                  <a:pt x="0" y="0"/>
                </a:moveTo>
                <a:lnTo>
                  <a:pt x="19027750" y="0"/>
                </a:lnTo>
                <a:lnTo>
                  <a:pt x="19027750" y="10703109"/>
                </a:lnTo>
                <a:lnTo>
                  <a:pt x="0" y="10703109"/>
                </a:lnTo>
                <a:lnTo>
                  <a:pt x="0" y="0"/>
                </a:lnTo>
                <a:close/>
              </a:path>
            </a:pathLst>
          </a:custGeom>
          <a:blipFill>
            <a:blip r:embed="rId2">
              <a:alphaModFix amt="6000"/>
              <a:extLst>
                <a:ext uri="{96DAC541-7B7A-43D3-8B79-37D633B846F1}">
                  <asvg:svgBlip xmlns:asvg="http://schemas.microsoft.com/office/drawing/2016/SVG/main" r:embed="rId3"/>
                </a:ext>
              </a:extLst>
            </a:blip>
            <a:stretch>
              <a:fillRect t="-69598" b="-1068"/>
            </a:stretch>
          </a:blipFill>
        </p:spPr>
      </p:sp>
      <p:grpSp>
        <p:nvGrpSpPr>
          <p:cNvPr id="3" name="Group 3">
            <a:extLst>
              <a:ext uri="{FF2B5EF4-FFF2-40B4-BE49-F238E27FC236}">
                <a16:creationId xmlns:a16="http://schemas.microsoft.com/office/drawing/2014/main" id="{5C0D9E17-C5F5-83F5-904F-838606A2B304}"/>
              </a:ext>
            </a:extLst>
          </p:cNvPr>
          <p:cNvGrpSpPr/>
          <p:nvPr/>
        </p:nvGrpSpPr>
        <p:grpSpPr>
          <a:xfrm>
            <a:off x="1066800" y="2155403"/>
            <a:ext cx="15733762" cy="7867859"/>
            <a:chOff x="0" y="0"/>
            <a:chExt cx="4033086" cy="1313045"/>
          </a:xfrm>
        </p:grpSpPr>
        <p:sp>
          <p:nvSpPr>
            <p:cNvPr id="4" name="Freeform 4">
              <a:extLst>
                <a:ext uri="{FF2B5EF4-FFF2-40B4-BE49-F238E27FC236}">
                  <a16:creationId xmlns:a16="http://schemas.microsoft.com/office/drawing/2014/main" id="{C65EE279-30C3-C147-96F0-73617ACD9A56}"/>
                </a:ext>
              </a:extLst>
            </p:cNvPr>
            <p:cNvSpPr/>
            <p:nvPr/>
          </p:nvSpPr>
          <p:spPr>
            <a:xfrm>
              <a:off x="0" y="0"/>
              <a:ext cx="4033086" cy="1313045"/>
            </a:xfrm>
            <a:custGeom>
              <a:avLst/>
              <a:gdLst/>
              <a:ahLst/>
              <a:cxnLst/>
              <a:rect l="l" t="t" r="r" b="b"/>
              <a:pathLst>
                <a:path w="4033086" h="1313045">
                  <a:moveTo>
                    <a:pt x="50557" y="0"/>
                  </a:moveTo>
                  <a:lnTo>
                    <a:pt x="3982529" y="0"/>
                  </a:lnTo>
                  <a:cubicBezTo>
                    <a:pt x="3995937" y="0"/>
                    <a:pt x="4008797" y="5327"/>
                    <a:pt x="4018278" y="14808"/>
                  </a:cubicBezTo>
                  <a:cubicBezTo>
                    <a:pt x="4027760" y="24289"/>
                    <a:pt x="4033086" y="37149"/>
                    <a:pt x="4033086" y="50557"/>
                  </a:cubicBezTo>
                  <a:lnTo>
                    <a:pt x="4033086" y="1262488"/>
                  </a:lnTo>
                  <a:cubicBezTo>
                    <a:pt x="4033086" y="1290410"/>
                    <a:pt x="4010451" y="1313045"/>
                    <a:pt x="3982529" y="1313045"/>
                  </a:cubicBezTo>
                  <a:lnTo>
                    <a:pt x="50557" y="1313045"/>
                  </a:lnTo>
                  <a:cubicBezTo>
                    <a:pt x="22635" y="1313045"/>
                    <a:pt x="0" y="1290410"/>
                    <a:pt x="0" y="1262488"/>
                  </a:cubicBezTo>
                  <a:lnTo>
                    <a:pt x="0" y="50557"/>
                  </a:lnTo>
                  <a:cubicBezTo>
                    <a:pt x="0" y="22635"/>
                    <a:pt x="22635" y="0"/>
                    <a:pt x="50557" y="0"/>
                  </a:cubicBezTo>
                  <a:close/>
                </a:path>
              </a:pathLst>
            </a:custGeom>
            <a:solidFill>
              <a:srgbClr val="FFFFFF"/>
            </a:solidFill>
            <a:ln cap="rnd">
              <a:noFill/>
              <a:prstDash val="solid"/>
              <a:round/>
            </a:ln>
          </p:spPr>
        </p:sp>
        <p:sp>
          <p:nvSpPr>
            <p:cNvPr id="5" name="TextBox 5">
              <a:extLst>
                <a:ext uri="{FF2B5EF4-FFF2-40B4-BE49-F238E27FC236}">
                  <a16:creationId xmlns:a16="http://schemas.microsoft.com/office/drawing/2014/main" id="{10B78594-F8EA-E1C8-61DA-BFDDA485067E}"/>
                </a:ext>
              </a:extLst>
            </p:cNvPr>
            <p:cNvSpPr txBox="1"/>
            <p:nvPr/>
          </p:nvSpPr>
          <p:spPr>
            <a:xfrm>
              <a:off x="0" y="-47625"/>
              <a:ext cx="4033086" cy="1360670"/>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4473D995-3CF8-FBD2-BFE9-5E0B07F39DDB}"/>
              </a:ext>
            </a:extLst>
          </p:cNvPr>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70E3953E-DAF7-B928-70F7-04BA142B2071}"/>
              </a:ext>
            </a:extLst>
          </p:cNvPr>
          <p:cNvSpPr/>
          <p:nvPr/>
        </p:nvSpPr>
        <p:spPr>
          <a:xfrm>
            <a:off x="0" y="7843178"/>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a:extLst>
              <a:ext uri="{FF2B5EF4-FFF2-40B4-BE49-F238E27FC236}">
                <a16:creationId xmlns:a16="http://schemas.microsoft.com/office/drawing/2014/main" id="{B74665AD-472E-0CB1-5AC7-BD351591CA6B}"/>
              </a:ext>
            </a:extLst>
          </p:cNvPr>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2738FAC5-F66F-0B60-5842-3B2475182C7D}"/>
              </a:ext>
            </a:extLst>
          </p:cNvPr>
          <p:cNvSpPr txBox="1"/>
          <p:nvPr/>
        </p:nvSpPr>
        <p:spPr>
          <a:xfrm>
            <a:off x="2216695" y="3009900"/>
            <a:ext cx="14774060" cy="10261976"/>
          </a:xfrm>
          <a:prstGeom prst="rect">
            <a:avLst/>
          </a:prstGeom>
        </p:spPr>
        <p:txBody>
          <a:bodyPr lIns="0" tIns="0" rIns="0" bIns="0" rtlCol="0" anchor="t">
            <a:spAutoFit/>
          </a:bodyPr>
          <a:lstStyle/>
          <a:p>
            <a:pPr marL="514350" indent="-514350">
              <a:buAutoNum type="arabicPeriod"/>
            </a:pPr>
            <a:r>
              <a:rPr lang="en-US" sz="3000" b="1" dirty="0">
                <a:latin typeface="Arimo" panose="020B0604020202020204" charset="0"/>
                <a:ea typeface="Arimo" panose="020B0604020202020204" charset="0"/>
                <a:cs typeface="Arimo" panose="020B0604020202020204" charset="0"/>
              </a:rPr>
              <a:t>USERS</a:t>
            </a:r>
          </a:p>
          <a:p>
            <a:pPr marL="914400" lvl="1" indent="-457200">
              <a:buFont typeface="Arial" panose="020B0604020202020204" pitchFamily="34" charset="0"/>
              <a:buChar char="•"/>
            </a:pPr>
            <a:r>
              <a:rPr lang="en-US" sz="3000" dirty="0" err="1">
                <a:latin typeface="Arimo" panose="020B0604020202020204" charset="0"/>
                <a:ea typeface="Arimo" panose="020B0604020202020204" charset="0"/>
                <a:cs typeface="Arimo" panose="020B0604020202020204" charset="0"/>
              </a:rPr>
              <a:t>Pengguna</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dapat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membuat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akun</a:t>
            </a:r>
            <a:r>
              <a:rPr lang="en-US" sz="3000" dirty="0">
                <a:latin typeface="Arimo" panose="020B0604020202020204" charset="0"/>
                <a:ea typeface="Arimo" panose="020B0604020202020204" charset="0"/>
                <a:cs typeface="Arimo" panose="020B0604020202020204" charset="0"/>
              </a:rPr>
              <a:t> dan login.</a:t>
            </a:r>
          </a:p>
          <a:p>
            <a:pPr marL="914400" lvl="1" indent="-457200">
              <a:buFont typeface="Arial" panose="020B0604020202020204" pitchFamily="34" charset="0"/>
              <a:buChar char="•"/>
            </a:pPr>
            <a:r>
              <a:rPr lang="en-US" sz="3000" dirty="0" err="1">
                <a:latin typeface="Arimo" panose="020B0604020202020204" charset="0"/>
                <a:ea typeface="Arimo" panose="020B0604020202020204" charset="0"/>
                <a:cs typeface="Arimo" panose="020B0604020202020204" charset="0"/>
              </a:rPr>
              <a:t>Sistem</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mendukung</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peran</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masyarakat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membuat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laporan</a:t>
            </a:r>
            <a:r>
              <a:rPr lang="en-US" sz="3000" dirty="0">
                <a:latin typeface="Arimo" panose="020B0604020202020204" charset="0"/>
                <a:ea typeface="Arimo" panose="020B0604020202020204" charset="0"/>
                <a:cs typeface="Arimo" panose="020B0604020202020204" charset="0"/>
              </a:rPr>
              <a:t>) dan </a:t>
            </a:r>
            <a:r>
              <a:rPr lang="en-US" sz="3000" dirty="0" err="1">
                <a:latin typeface="Arimo" panose="020B0604020202020204" charset="0"/>
                <a:ea typeface="Arimo" panose="020B0604020202020204" charset="0"/>
                <a:cs typeface="Arimo" panose="020B0604020202020204" charset="0"/>
              </a:rPr>
              <a:t>petugas</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menangani</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laporan</a:t>
            </a:r>
            <a:r>
              <a:rPr lang="en-US" sz="3000" dirty="0">
                <a:latin typeface="Arimo" panose="020B0604020202020204" charset="0"/>
                <a:ea typeface="Arimo" panose="020B0604020202020204" charset="0"/>
                <a:cs typeface="Arimo" panose="020B0604020202020204" charset="0"/>
              </a:rPr>
              <a:t>).</a:t>
            </a:r>
          </a:p>
          <a:p>
            <a:r>
              <a:rPr lang="en-US" sz="3000" b="1" dirty="0">
                <a:latin typeface="Arimo" panose="020B0604020202020204" charset="0"/>
                <a:ea typeface="Arimo" panose="020B0604020202020204" charset="0"/>
                <a:cs typeface="Arimo" panose="020B0604020202020204" charset="0"/>
              </a:rPr>
              <a:t>2. REPORTS</a:t>
            </a:r>
          </a:p>
          <a:p>
            <a:pPr marL="914400" lvl="1" indent="-457200">
              <a:buFont typeface="Arial" panose="020B0604020202020204" pitchFamily="34" charset="0"/>
              <a:buChar char="•"/>
            </a:pPr>
            <a:r>
              <a:rPr lang="en-US" sz="3000" dirty="0">
                <a:latin typeface="Arimo" panose="020B0604020202020204" charset="0"/>
                <a:ea typeface="Arimo" panose="020B0604020202020204" charset="0"/>
                <a:cs typeface="Arimo" panose="020B0604020202020204" charset="0"/>
              </a:rPr>
              <a:t>Masyarakat </a:t>
            </a:r>
            <a:r>
              <a:rPr lang="en-US" sz="3000" dirty="0" err="1">
                <a:latin typeface="Arimo" panose="020B0604020202020204" charset="0"/>
                <a:ea typeface="Arimo" panose="020B0604020202020204" charset="0"/>
                <a:cs typeface="Arimo" panose="020B0604020202020204" charset="0"/>
              </a:rPr>
              <a:t>dapat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membuat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laporan</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dengan</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judul</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isi</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foto</a:t>
            </a:r>
            <a:r>
              <a:rPr lang="en-US" sz="3000" dirty="0">
                <a:latin typeface="Arimo" panose="020B0604020202020204" charset="0"/>
                <a:ea typeface="Arimo" panose="020B0604020202020204" charset="0"/>
                <a:cs typeface="Arimo" panose="020B0604020202020204" charset="0"/>
              </a:rPr>
              <a:t>, dan </a:t>
            </a:r>
            <a:r>
              <a:rPr lang="en-US" sz="3000" dirty="0" err="1">
                <a:latin typeface="Arimo" panose="020B0604020202020204" charset="0"/>
                <a:ea typeface="Arimo" panose="020B0604020202020204" charset="0"/>
                <a:cs typeface="Arimo" panose="020B0604020202020204" charset="0"/>
              </a:rPr>
              <a:t>kategori</a:t>
            </a:r>
            <a:r>
              <a:rPr lang="en-US" sz="3000" dirty="0">
                <a:latin typeface="Arimo" panose="020B0604020202020204" charset="0"/>
                <a:ea typeface="Arimo" panose="020B0604020202020204" charset="0"/>
                <a:cs typeface="Arimo" panose="020B0604020202020204" charset="0"/>
              </a:rPr>
              <a:t>.</a:t>
            </a:r>
          </a:p>
          <a:p>
            <a:pPr marL="914400" lvl="1" indent="-457200">
              <a:buFont typeface="Arial" panose="020B0604020202020204" pitchFamily="34" charset="0"/>
              <a:buChar char="•"/>
            </a:pPr>
            <a:r>
              <a:rPr lang="en-US" sz="3000" dirty="0" err="1">
                <a:latin typeface="Arimo" panose="020B0604020202020204" charset="0"/>
                <a:ea typeface="Arimo" panose="020B0604020202020204" charset="0"/>
                <a:cs typeface="Arimo" panose="020B0604020202020204" charset="0"/>
              </a:rPr>
              <a:t>Pengguna</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dapat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melihat</a:t>
            </a:r>
            <a:r>
              <a:rPr lang="en-US" sz="3000" dirty="0">
                <a:latin typeface="Arimo" panose="020B0604020202020204" charset="0"/>
                <a:ea typeface="Arimo" panose="020B0604020202020204" charset="0"/>
                <a:cs typeface="Arimo" panose="020B0604020202020204" charset="0"/>
              </a:rPr>
              <a:t> daftar </a:t>
            </a:r>
            <a:r>
              <a:rPr lang="en-US" sz="3000" dirty="0" err="1">
                <a:latin typeface="Arimo" panose="020B0604020202020204" charset="0"/>
                <a:ea typeface="Arimo" panose="020B0604020202020204" charset="0"/>
                <a:cs typeface="Arimo" panose="020B0604020202020204" charset="0"/>
              </a:rPr>
              <a:t>laporan</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mereka</a:t>
            </a:r>
            <a:r>
              <a:rPr lang="en-US" sz="3000" dirty="0">
                <a:latin typeface="Arimo" panose="020B0604020202020204" charset="0"/>
                <a:ea typeface="Arimo" panose="020B0604020202020204" charset="0"/>
                <a:cs typeface="Arimo" panose="020B0604020202020204" charset="0"/>
              </a:rPr>
              <a:t>.</a:t>
            </a:r>
          </a:p>
          <a:p>
            <a:pPr marL="914400" lvl="1" indent="-457200">
              <a:buFont typeface="Arial" panose="020B0604020202020204" pitchFamily="34" charset="0"/>
              <a:buChar char="•"/>
            </a:pPr>
            <a:r>
              <a:rPr lang="en-US" sz="3000" dirty="0" err="1">
                <a:latin typeface="Arimo" panose="020B0604020202020204" charset="0"/>
                <a:ea typeface="Arimo" panose="020B0604020202020204" charset="0"/>
                <a:cs typeface="Arimo" panose="020B0604020202020204" charset="0"/>
              </a:rPr>
              <a:t>Petugas</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dapat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melihat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semua</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laporan</a:t>
            </a:r>
            <a:r>
              <a:rPr lang="en-US" sz="3000" dirty="0">
                <a:latin typeface="Arimo" panose="020B0604020202020204" charset="0"/>
                <a:ea typeface="Arimo" panose="020B0604020202020204" charset="0"/>
                <a:cs typeface="Arimo" panose="020B0604020202020204" charset="0"/>
              </a:rPr>
              <a:t> dan </a:t>
            </a:r>
            <a:r>
              <a:rPr lang="en-US" sz="3000" dirty="0" err="1">
                <a:latin typeface="Arimo" panose="020B0604020202020204" charset="0"/>
                <a:ea typeface="Arimo" panose="020B0604020202020204" charset="0"/>
                <a:cs typeface="Arimo" panose="020B0604020202020204" charset="0"/>
              </a:rPr>
              <a:t>mengubah</a:t>
            </a:r>
            <a:r>
              <a:rPr lang="en-US" sz="3000" dirty="0">
                <a:latin typeface="Arimo" panose="020B0604020202020204" charset="0"/>
                <a:ea typeface="Arimo" panose="020B0604020202020204" charset="0"/>
                <a:cs typeface="Arimo" panose="020B0604020202020204" charset="0"/>
              </a:rPr>
              <a:t> status </a:t>
            </a:r>
            <a:r>
              <a:rPr lang="en-US" sz="3000" dirty="0" err="1">
                <a:latin typeface="Arimo" panose="020B0604020202020204" charset="0"/>
                <a:ea typeface="Arimo" panose="020B0604020202020204" charset="0"/>
                <a:cs typeface="Arimo" panose="020B0604020202020204" charset="0"/>
              </a:rPr>
              <a:t>laporan</a:t>
            </a:r>
            <a:r>
              <a:rPr lang="en-US" sz="3000" dirty="0">
                <a:latin typeface="Arimo" panose="020B0604020202020204" charset="0"/>
                <a:ea typeface="Arimo" panose="020B0604020202020204" charset="0"/>
                <a:cs typeface="Arimo" panose="020B0604020202020204" charset="0"/>
              </a:rPr>
              <a:t>.</a:t>
            </a:r>
          </a:p>
          <a:p>
            <a:r>
              <a:rPr lang="en-US" sz="3000" b="1" dirty="0">
                <a:latin typeface="Arimo" panose="020B0604020202020204" charset="0"/>
                <a:ea typeface="Arimo" panose="020B0604020202020204" charset="0"/>
                <a:cs typeface="Arimo" panose="020B0604020202020204" charset="0"/>
              </a:rPr>
              <a:t>3. REPORT_RESPONSES</a:t>
            </a:r>
          </a:p>
          <a:p>
            <a:pPr marL="914400" lvl="1" indent="-457200">
              <a:buFont typeface="Arial" panose="020B0604020202020204" pitchFamily="34" charset="0"/>
              <a:buChar char="•"/>
            </a:pPr>
            <a:r>
              <a:rPr lang="en-US" sz="3000" dirty="0" err="1">
                <a:latin typeface="Arimo" panose="020B0604020202020204" charset="0"/>
                <a:ea typeface="Arimo" panose="020B0604020202020204" charset="0"/>
                <a:cs typeface="Arimo" panose="020B0604020202020204" charset="0"/>
              </a:rPr>
              <a:t>Petugas</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dapat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memberikan</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respon</a:t>
            </a:r>
            <a:r>
              <a:rPr lang="en-US" sz="3000" dirty="0">
                <a:latin typeface="Arimo" panose="020B0604020202020204" charset="0"/>
                <a:ea typeface="Arimo" panose="020B0604020202020204" charset="0"/>
                <a:cs typeface="Arimo" panose="020B0604020202020204" charset="0"/>
              </a:rPr>
              <a:t> pada </a:t>
            </a:r>
            <a:r>
              <a:rPr lang="en-US" sz="3000" dirty="0" err="1">
                <a:latin typeface="Arimo" panose="020B0604020202020204" charset="0"/>
                <a:ea typeface="Arimo" panose="020B0604020202020204" charset="0"/>
                <a:cs typeface="Arimo" panose="020B0604020202020204" charset="0"/>
              </a:rPr>
              <a:t>laporan</a:t>
            </a:r>
            <a:r>
              <a:rPr lang="en-US" sz="3000" dirty="0">
                <a:latin typeface="Arimo" panose="020B0604020202020204" charset="0"/>
                <a:ea typeface="Arimo" panose="020B0604020202020204" charset="0"/>
                <a:cs typeface="Arimo" panose="020B0604020202020204" charset="0"/>
              </a:rPr>
              <a:t>.</a:t>
            </a:r>
          </a:p>
          <a:p>
            <a:pPr marL="914400" lvl="1" indent="-457200">
              <a:buFont typeface="Arial" panose="020B0604020202020204" pitchFamily="34" charset="0"/>
              <a:buChar char="•"/>
            </a:pPr>
            <a:r>
              <a:rPr lang="en-US" sz="3000" dirty="0">
                <a:latin typeface="Arimo" panose="020B0604020202020204" charset="0"/>
                <a:ea typeface="Arimo" panose="020B0604020202020204" charset="0"/>
                <a:cs typeface="Arimo" panose="020B0604020202020204" charset="0"/>
              </a:rPr>
              <a:t>Masyarakat </a:t>
            </a:r>
            <a:r>
              <a:rPr lang="en-US" sz="3000" dirty="0" err="1">
                <a:latin typeface="Arimo" panose="020B0604020202020204" charset="0"/>
                <a:ea typeface="Arimo" panose="020B0604020202020204" charset="0"/>
                <a:cs typeface="Arimo" panose="020B0604020202020204" charset="0"/>
              </a:rPr>
              <a:t>dapat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melihat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respon</a:t>
            </a:r>
            <a:r>
              <a:rPr lang="en-US" sz="3000" dirty="0">
                <a:latin typeface="Arimo" panose="020B0604020202020204" charset="0"/>
                <a:ea typeface="Arimo" panose="020B0604020202020204" charset="0"/>
                <a:cs typeface="Arimo" panose="020B0604020202020204" charset="0"/>
              </a:rPr>
              <a:t> yang </a:t>
            </a:r>
            <a:r>
              <a:rPr lang="en-US" sz="3000" dirty="0" err="1">
                <a:latin typeface="Arimo" panose="020B0604020202020204" charset="0"/>
                <a:ea typeface="Arimo" panose="020B0604020202020204" charset="0"/>
                <a:cs typeface="Arimo" panose="020B0604020202020204" charset="0"/>
              </a:rPr>
              <a:t>diberikan</a:t>
            </a:r>
            <a:r>
              <a:rPr lang="en-US" sz="3000" dirty="0">
                <a:latin typeface="Arimo" panose="020B0604020202020204" charset="0"/>
                <a:ea typeface="Arimo" panose="020B0604020202020204" charset="0"/>
                <a:cs typeface="Arimo" panose="020B0604020202020204" charset="0"/>
              </a:rPr>
              <a:t>.</a:t>
            </a:r>
          </a:p>
          <a:p>
            <a:pPr marL="914400" lvl="1" indent="-457200">
              <a:buFont typeface="Arial" panose="020B0604020202020204" pitchFamily="34" charset="0"/>
              <a:buChar char="•"/>
            </a:pPr>
            <a:r>
              <a:rPr lang="en-US" sz="3000" dirty="0" err="1">
                <a:latin typeface="Arimo" panose="020B0604020202020204" charset="0"/>
                <a:ea typeface="Arimo" panose="020B0604020202020204" charset="0"/>
                <a:cs typeface="Arimo" panose="020B0604020202020204" charset="0"/>
              </a:rPr>
              <a:t>Sistem</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menyimpan</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riwayat</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respon</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beserta</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waktu</a:t>
            </a:r>
            <a:r>
              <a:rPr lang="en-US" sz="3000" dirty="0">
                <a:latin typeface="Arimo" panose="020B0604020202020204" charset="0"/>
                <a:ea typeface="Arimo" panose="020B0604020202020204" charset="0"/>
                <a:cs typeface="Arimo" panose="020B0604020202020204" charset="0"/>
              </a:rPr>
              <a:t> dan </a:t>
            </a:r>
            <a:r>
              <a:rPr lang="en-US" sz="3000" dirty="0" err="1">
                <a:latin typeface="Arimo" panose="020B0604020202020204" charset="0"/>
                <a:ea typeface="Arimo" panose="020B0604020202020204" charset="0"/>
                <a:cs typeface="Arimo" panose="020B0604020202020204" charset="0"/>
              </a:rPr>
              <a:t>siapa</a:t>
            </a:r>
            <a:r>
              <a:rPr lang="en-US" sz="3000" dirty="0">
                <a:latin typeface="Arimo" panose="020B0604020202020204" charset="0"/>
                <a:ea typeface="Arimo" panose="020B0604020202020204" charset="0"/>
                <a:cs typeface="Arimo" panose="020B0604020202020204" charset="0"/>
              </a:rPr>
              <a:t> yang </a:t>
            </a:r>
            <a:r>
              <a:rPr lang="en-US" sz="3000" dirty="0" err="1">
                <a:latin typeface="Arimo" panose="020B0604020202020204" charset="0"/>
                <a:ea typeface="Arimo" panose="020B0604020202020204" charset="0"/>
                <a:cs typeface="Arimo" panose="020B0604020202020204" charset="0"/>
              </a:rPr>
              <a:t>memberikan</a:t>
            </a:r>
            <a:r>
              <a:rPr lang="en-US" sz="3000" dirty="0">
                <a:latin typeface="Arimo" panose="020B0604020202020204" charset="0"/>
                <a:ea typeface="Arimo" panose="020B0604020202020204" charset="0"/>
                <a:cs typeface="Arimo" panose="020B0604020202020204" charset="0"/>
              </a:rPr>
              <a:t> </a:t>
            </a:r>
            <a:r>
              <a:rPr lang="en-US" sz="3000" dirty="0" err="1">
                <a:latin typeface="Arimo" panose="020B0604020202020204" charset="0"/>
                <a:ea typeface="Arimo" panose="020B0604020202020204" charset="0"/>
                <a:cs typeface="Arimo" panose="020B0604020202020204" charset="0"/>
              </a:rPr>
              <a:t>respon</a:t>
            </a:r>
            <a:r>
              <a:rPr lang="en-US" sz="3000" dirty="0">
                <a:latin typeface="Arimo" panose="020B0604020202020204" charset="0"/>
                <a:ea typeface="Arimo" panose="020B0604020202020204" charset="0"/>
                <a:cs typeface="Arimo" panose="020B0604020202020204" charset="0"/>
              </a:rPr>
              <a:t>.</a:t>
            </a:r>
          </a:p>
          <a:p>
            <a:pPr algn="l">
              <a:lnSpc>
                <a:spcPts val="5285"/>
              </a:lnSpc>
            </a:pPr>
            <a:endParaRPr lang="en-US" sz="30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4983"/>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p:txBody>
      </p:sp>
      <p:sp>
        <p:nvSpPr>
          <p:cNvPr id="10" name="TextBox 10">
            <a:extLst>
              <a:ext uri="{FF2B5EF4-FFF2-40B4-BE49-F238E27FC236}">
                <a16:creationId xmlns:a16="http://schemas.microsoft.com/office/drawing/2014/main" id="{4E2863E1-DCAB-5AB2-6771-5BE52AE611BB}"/>
              </a:ext>
            </a:extLst>
          </p:cNvPr>
          <p:cNvSpPr txBox="1"/>
          <p:nvPr/>
        </p:nvSpPr>
        <p:spPr>
          <a:xfrm>
            <a:off x="2073746" y="936161"/>
            <a:ext cx="13719870" cy="1269578"/>
          </a:xfrm>
          <a:prstGeom prst="rect">
            <a:avLst/>
          </a:prstGeom>
        </p:spPr>
        <p:txBody>
          <a:bodyPr lIns="0" tIns="0" rIns="0" bIns="0" rtlCol="0" anchor="t">
            <a:spAutoFit/>
          </a:bodyPr>
          <a:lstStyle/>
          <a:p>
            <a:pPr algn="ctr">
              <a:lnSpc>
                <a:spcPts val="10780"/>
              </a:lnSpc>
              <a:spcBef>
                <a:spcPct val="0"/>
              </a:spcBef>
            </a:pPr>
            <a:r>
              <a:rPr lang="en-US" sz="6000" dirty="0">
                <a:solidFill>
                  <a:srgbClr val="FFFFFF"/>
                </a:solidFill>
                <a:latin typeface="League Spartan"/>
                <a:ea typeface="League Spartan"/>
                <a:cs typeface="League Spartan"/>
                <a:sym typeface="League Spartan"/>
              </a:rPr>
              <a:t>ANALISA KEBUTUHAN PENGGUNA</a:t>
            </a:r>
          </a:p>
        </p:txBody>
      </p:sp>
    </p:spTree>
    <p:extLst>
      <p:ext uri="{BB962C8B-B14F-4D97-AF65-F5344CB8AC3E}">
        <p14:creationId xmlns:p14="http://schemas.microsoft.com/office/powerpoint/2010/main" val="440836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a:extLst>
            <a:ext uri="{FF2B5EF4-FFF2-40B4-BE49-F238E27FC236}">
              <a16:creationId xmlns:a16="http://schemas.microsoft.com/office/drawing/2014/main" id="{1BED5225-98B1-2BF1-3A96-FCC78736A95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6CC8A8F-6C37-B904-F262-087180067154}"/>
              </a:ext>
            </a:extLst>
          </p:cNvPr>
          <p:cNvSpPr/>
          <p:nvPr/>
        </p:nvSpPr>
        <p:spPr>
          <a:xfrm>
            <a:off x="-437245" y="-273117"/>
            <a:ext cx="19027750" cy="10703110"/>
          </a:xfrm>
          <a:custGeom>
            <a:avLst/>
            <a:gdLst/>
            <a:ahLst/>
            <a:cxnLst/>
            <a:rect l="l" t="t" r="r" b="b"/>
            <a:pathLst>
              <a:path w="19027750" h="10703110">
                <a:moveTo>
                  <a:pt x="0" y="0"/>
                </a:moveTo>
                <a:lnTo>
                  <a:pt x="19027750" y="0"/>
                </a:lnTo>
                <a:lnTo>
                  <a:pt x="19027750" y="10703109"/>
                </a:lnTo>
                <a:lnTo>
                  <a:pt x="0" y="10703109"/>
                </a:lnTo>
                <a:lnTo>
                  <a:pt x="0" y="0"/>
                </a:lnTo>
                <a:close/>
              </a:path>
            </a:pathLst>
          </a:custGeom>
          <a:blipFill>
            <a:blip r:embed="rId2">
              <a:alphaModFix amt="6000"/>
              <a:extLst>
                <a:ext uri="{96DAC541-7B7A-43D3-8B79-37D633B846F1}">
                  <asvg:svgBlip xmlns:asvg="http://schemas.microsoft.com/office/drawing/2016/SVG/main" r:embed="rId3"/>
                </a:ext>
              </a:extLst>
            </a:blip>
            <a:stretch>
              <a:fillRect t="-69598" b="-1068"/>
            </a:stretch>
          </a:blipFill>
        </p:spPr>
      </p:sp>
      <p:grpSp>
        <p:nvGrpSpPr>
          <p:cNvPr id="3" name="Group 3">
            <a:extLst>
              <a:ext uri="{FF2B5EF4-FFF2-40B4-BE49-F238E27FC236}">
                <a16:creationId xmlns:a16="http://schemas.microsoft.com/office/drawing/2014/main" id="{60799C48-5FA2-4C8B-C90F-62EF49939547}"/>
              </a:ext>
            </a:extLst>
          </p:cNvPr>
          <p:cNvGrpSpPr/>
          <p:nvPr/>
        </p:nvGrpSpPr>
        <p:grpSpPr>
          <a:xfrm>
            <a:off x="1066800" y="2155403"/>
            <a:ext cx="15733762" cy="7867859"/>
            <a:chOff x="0" y="0"/>
            <a:chExt cx="4033086" cy="1313045"/>
          </a:xfrm>
        </p:grpSpPr>
        <p:sp>
          <p:nvSpPr>
            <p:cNvPr id="4" name="Freeform 4">
              <a:extLst>
                <a:ext uri="{FF2B5EF4-FFF2-40B4-BE49-F238E27FC236}">
                  <a16:creationId xmlns:a16="http://schemas.microsoft.com/office/drawing/2014/main" id="{F3032826-F88D-3334-FF3D-09B721066650}"/>
                </a:ext>
              </a:extLst>
            </p:cNvPr>
            <p:cNvSpPr/>
            <p:nvPr/>
          </p:nvSpPr>
          <p:spPr>
            <a:xfrm>
              <a:off x="0" y="0"/>
              <a:ext cx="4033086" cy="1313045"/>
            </a:xfrm>
            <a:custGeom>
              <a:avLst/>
              <a:gdLst/>
              <a:ahLst/>
              <a:cxnLst/>
              <a:rect l="l" t="t" r="r" b="b"/>
              <a:pathLst>
                <a:path w="4033086" h="1313045">
                  <a:moveTo>
                    <a:pt x="50557" y="0"/>
                  </a:moveTo>
                  <a:lnTo>
                    <a:pt x="3982529" y="0"/>
                  </a:lnTo>
                  <a:cubicBezTo>
                    <a:pt x="3995937" y="0"/>
                    <a:pt x="4008797" y="5327"/>
                    <a:pt x="4018278" y="14808"/>
                  </a:cubicBezTo>
                  <a:cubicBezTo>
                    <a:pt x="4027760" y="24289"/>
                    <a:pt x="4033086" y="37149"/>
                    <a:pt x="4033086" y="50557"/>
                  </a:cubicBezTo>
                  <a:lnTo>
                    <a:pt x="4033086" y="1262488"/>
                  </a:lnTo>
                  <a:cubicBezTo>
                    <a:pt x="4033086" y="1290410"/>
                    <a:pt x="4010451" y="1313045"/>
                    <a:pt x="3982529" y="1313045"/>
                  </a:cubicBezTo>
                  <a:lnTo>
                    <a:pt x="50557" y="1313045"/>
                  </a:lnTo>
                  <a:cubicBezTo>
                    <a:pt x="22635" y="1313045"/>
                    <a:pt x="0" y="1290410"/>
                    <a:pt x="0" y="1262488"/>
                  </a:cubicBezTo>
                  <a:lnTo>
                    <a:pt x="0" y="50557"/>
                  </a:lnTo>
                  <a:cubicBezTo>
                    <a:pt x="0" y="22635"/>
                    <a:pt x="22635" y="0"/>
                    <a:pt x="50557" y="0"/>
                  </a:cubicBezTo>
                  <a:close/>
                </a:path>
              </a:pathLst>
            </a:custGeom>
            <a:solidFill>
              <a:srgbClr val="FFFFFF"/>
            </a:solidFill>
            <a:ln cap="rnd">
              <a:noFill/>
              <a:prstDash val="solid"/>
              <a:round/>
            </a:ln>
          </p:spPr>
        </p:sp>
        <p:sp>
          <p:nvSpPr>
            <p:cNvPr id="5" name="TextBox 5">
              <a:extLst>
                <a:ext uri="{FF2B5EF4-FFF2-40B4-BE49-F238E27FC236}">
                  <a16:creationId xmlns:a16="http://schemas.microsoft.com/office/drawing/2014/main" id="{A8A71982-181A-9562-343B-8C0F6EF0FF72}"/>
                </a:ext>
              </a:extLst>
            </p:cNvPr>
            <p:cNvSpPr txBox="1"/>
            <p:nvPr/>
          </p:nvSpPr>
          <p:spPr>
            <a:xfrm>
              <a:off x="0" y="-47625"/>
              <a:ext cx="4033086" cy="1360670"/>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3B0E295A-48AF-D2F7-BFB8-D708BA3EB9F4}"/>
              </a:ext>
            </a:extLst>
          </p:cNvPr>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12A268FC-8F8F-E6C9-D9F6-E4FB96AAA746}"/>
              </a:ext>
            </a:extLst>
          </p:cNvPr>
          <p:cNvSpPr/>
          <p:nvPr/>
        </p:nvSpPr>
        <p:spPr>
          <a:xfrm>
            <a:off x="0" y="7843178"/>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a:extLst>
              <a:ext uri="{FF2B5EF4-FFF2-40B4-BE49-F238E27FC236}">
                <a16:creationId xmlns:a16="http://schemas.microsoft.com/office/drawing/2014/main" id="{F90BB3D6-D7FA-9976-E317-D76C7A9A9097}"/>
              </a:ext>
            </a:extLst>
          </p:cNvPr>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8682B371-F0CF-FE68-66D1-7048BA14DC00}"/>
              </a:ext>
            </a:extLst>
          </p:cNvPr>
          <p:cNvSpPr txBox="1"/>
          <p:nvPr/>
        </p:nvSpPr>
        <p:spPr>
          <a:xfrm>
            <a:off x="2216695" y="3009900"/>
            <a:ext cx="14774060" cy="4721998"/>
          </a:xfrm>
          <a:prstGeom prst="rect">
            <a:avLst/>
          </a:prstGeom>
        </p:spPr>
        <p:txBody>
          <a:bodyPr lIns="0" tIns="0" rIns="0" bIns="0" rtlCol="0" anchor="t">
            <a:spAutoFit/>
          </a:bodyPr>
          <a:lstStyle/>
          <a:p>
            <a:pPr marL="514350" indent="-514350">
              <a:buAutoNum type="arabicPeriod"/>
            </a:pPr>
            <a:r>
              <a:rPr lang="en-US" sz="3000" b="1" dirty="0">
                <a:latin typeface="Arimo" panose="020B0604020202020204" charset="0"/>
                <a:ea typeface="Arimo" panose="020B0604020202020204" charset="0"/>
                <a:cs typeface="Arimo" panose="020B0604020202020204" charset="0"/>
              </a:rPr>
              <a:t>ENTITY RELATHIONSHIP DIAGRAM (ERD)</a:t>
            </a:r>
          </a:p>
          <a:p>
            <a:pPr algn="l">
              <a:lnSpc>
                <a:spcPts val="5285"/>
              </a:lnSpc>
            </a:pPr>
            <a:endParaRPr lang="en-US" sz="30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4983"/>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p:txBody>
      </p:sp>
      <p:sp>
        <p:nvSpPr>
          <p:cNvPr id="10" name="TextBox 10">
            <a:extLst>
              <a:ext uri="{FF2B5EF4-FFF2-40B4-BE49-F238E27FC236}">
                <a16:creationId xmlns:a16="http://schemas.microsoft.com/office/drawing/2014/main" id="{D1344E51-7AF0-3407-DB57-2AC30966F5FE}"/>
              </a:ext>
            </a:extLst>
          </p:cNvPr>
          <p:cNvSpPr txBox="1"/>
          <p:nvPr/>
        </p:nvSpPr>
        <p:spPr>
          <a:xfrm>
            <a:off x="1984391" y="926090"/>
            <a:ext cx="13719870" cy="1269578"/>
          </a:xfrm>
          <a:prstGeom prst="rect">
            <a:avLst/>
          </a:prstGeom>
        </p:spPr>
        <p:txBody>
          <a:bodyPr lIns="0" tIns="0" rIns="0" bIns="0" rtlCol="0" anchor="t">
            <a:spAutoFit/>
          </a:bodyPr>
          <a:lstStyle/>
          <a:p>
            <a:pPr algn="ctr">
              <a:lnSpc>
                <a:spcPts val="10780"/>
              </a:lnSpc>
              <a:spcBef>
                <a:spcPct val="0"/>
              </a:spcBef>
            </a:pPr>
            <a:r>
              <a:rPr lang="en-US" sz="6000" dirty="0">
                <a:solidFill>
                  <a:srgbClr val="FFFFFF"/>
                </a:solidFill>
                <a:latin typeface="League Spartan"/>
                <a:ea typeface="League Spartan"/>
                <a:cs typeface="League Spartan"/>
                <a:sym typeface="League Spartan"/>
              </a:rPr>
              <a:t>DESAIN SISTEM</a:t>
            </a:r>
          </a:p>
        </p:txBody>
      </p:sp>
      <p:pic>
        <p:nvPicPr>
          <p:cNvPr id="13" name="Picture 12">
            <a:extLst>
              <a:ext uri="{FF2B5EF4-FFF2-40B4-BE49-F238E27FC236}">
                <a16:creationId xmlns:a16="http://schemas.microsoft.com/office/drawing/2014/main" id="{645ABC7C-057A-0014-4F2E-3FB8ED46A4B9}"/>
              </a:ext>
            </a:extLst>
          </p:cNvPr>
          <p:cNvPicPr>
            <a:picLocks noChangeAspect="1"/>
          </p:cNvPicPr>
          <p:nvPr/>
        </p:nvPicPr>
        <p:blipFill>
          <a:blip r:embed="rId8"/>
          <a:stretch>
            <a:fillRect/>
          </a:stretch>
        </p:blipFill>
        <p:spPr>
          <a:xfrm>
            <a:off x="3886200" y="3915055"/>
            <a:ext cx="8328378" cy="5686874"/>
          </a:xfrm>
          <a:prstGeom prst="rect">
            <a:avLst/>
          </a:prstGeom>
        </p:spPr>
      </p:pic>
    </p:spTree>
    <p:extLst>
      <p:ext uri="{BB962C8B-B14F-4D97-AF65-F5344CB8AC3E}">
        <p14:creationId xmlns:p14="http://schemas.microsoft.com/office/powerpoint/2010/main" val="2859485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a:extLst>
            <a:ext uri="{FF2B5EF4-FFF2-40B4-BE49-F238E27FC236}">
              <a16:creationId xmlns:a16="http://schemas.microsoft.com/office/drawing/2014/main" id="{F33662D5-A66E-2D4D-1570-8D819EB6F2F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F286B69-A89A-AA45-4C64-E4DE8368B896}"/>
              </a:ext>
            </a:extLst>
          </p:cNvPr>
          <p:cNvSpPr/>
          <p:nvPr/>
        </p:nvSpPr>
        <p:spPr>
          <a:xfrm>
            <a:off x="-437245" y="-273117"/>
            <a:ext cx="19027750" cy="10703110"/>
          </a:xfrm>
          <a:custGeom>
            <a:avLst/>
            <a:gdLst/>
            <a:ahLst/>
            <a:cxnLst/>
            <a:rect l="l" t="t" r="r" b="b"/>
            <a:pathLst>
              <a:path w="19027750" h="10703110">
                <a:moveTo>
                  <a:pt x="0" y="0"/>
                </a:moveTo>
                <a:lnTo>
                  <a:pt x="19027750" y="0"/>
                </a:lnTo>
                <a:lnTo>
                  <a:pt x="19027750" y="10703109"/>
                </a:lnTo>
                <a:lnTo>
                  <a:pt x="0" y="10703109"/>
                </a:lnTo>
                <a:lnTo>
                  <a:pt x="0" y="0"/>
                </a:lnTo>
                <a:close/>
              </a:path>
            </a:pathLst>
          </a:custGeom>
          <a:blipFill>
            <a:blip r:embed="rId2">
              <a:alphaModFix amt="6000"/>
              <a:extLst>
                <a:ext uri="{96DAC541-7B7A-43D3-8B79-37D633B846F1}">
                  <asvg:svgBlip xmlns:asvg="http://schemas.microsoft.com/office/drawing/2016/SVG/main" r:embed="rId3"/>
                </a:ext>
              </a:extLst>
            </a:blip>
            <a:stretch>
              <a:fillRect t="-69598" b="-1068"/>
            </a:stretch>
          </a:blipFill>
        </p:spPr>
      </p:sp>
      <p:grpSp>
        <p:nvGrpSpPr>
          <p:cNvPr id="3" name="Group 3">
            <a:extLst>
              <a:ext uri="{FF2B5EF4-FFF2-40B4-BE49-F238E27FC236}">
                <a16:creationId xmlns:a16="http://schemas.microsoft.com/office/drawing/2014/main" id="{BA79272C-E30A-5C7E-568F-1CA4F5E2C002}"/>
              </a:ext>
            </a:extLst>
          </p:cNvPr>
          <p:cNvGrpSpPr/>
          <p:nvPr/>
        </p:nvGrpSpPr>
        <p:grpSpPr>
          <a:xfrm>
            <a:off x="1190388" y="1838858"/>
            <a:ext cx="15733762" cy="8153231"/>
            <a:chOff x="0" y="-47625"/>
            <a:chExt cx="4033086" cy="1360670"/>
          </a:xfrm>
        </p:grpSpPr>
        <p:sp>
          <p:nvSpPr>
            <p:cNvPr id="4" name="Freeform 4">
              <a:extLst>
                <a:ext uri="{FF2B5EF4-FFF2-40B4-BE49-F238E27FC236}">
                  <a16:creationId xmlns:a16="http://schemas.microsoft.com/office/drawing/2014/main" id="{FB3F2466-7599-D988-D2F4-120B8073C84A}"/>
                </a:ext>
              </a:extLst>
            </p:cNvPr>
            <p:cNvSpPr/>
            <p:nvPr/>
          </p:nvSpPr>
          <p:spPr>
            <a:xfrm>
              <a:off x="0" y="0"/>
              <a:ext cx="4033086" cy="1313045"/>
            </a:xfrm>
            <a:custGeom>
              <a:avLst/>
              <a:gdLst/>
              <a:ahLst/>
              <a:cxnLst/>
              <a:rect l="l" t="t" r="r" b="b"/>
              <a:pathLst>
                <a:path w="4033086" h="1313045">
                  <a:moveTo>
                    <a:pt x="50557" y="0"/>
                  </a:moveTo>
                  <a:lnTo>
                    <a:pt x="3982529" y="0"/>
                  </a:lnTo>
                  <a:cubicBezTo>
                    <a:pt x="3995937" y="0"/>
                    <a:pt x="4008797" y="5327"/>
                    <a:pt x="4018278" y="14808"/>
                  </a:cubicBezTo>
                  <a:cubicBezTo>
                    <a:pt x="4027760" y="24289"/>
                    <a:pt x="4033086" y="37149"/>
                    <a:pt x="4033086" y="50557"/>
                  </a:cubicBezTo>
                  <a:lnTo>
                    <a:pt x="4033086" y="1262488"/>
                  </a:lnTo>
                  <a:cubicBezTo>
                    <a:pt x="4033086" y="1290410"/>
                    <a:pt x="4010451" y="1313045"/>
                    <a:pt x="3982529" y="1313045"/>
                  </a:cubicBezTo>
                  <a:lnTo>
                    <a:pt x="50557" y="1313045"/>
                  </a:lnTo>
                  <a:cubicBezTo>
                    <a:pt x="22635" y="1313045"/>
                    <a:pt x="0" y="1290410"/>
                    <a:pt x="0" y="1262488"/>
                  </a:cubicBezTo>
                  <a:lnTo>
                    <a:pt x="0" y="50557"/>
                  </a:lnTo>
                  <a:cubicBezTo>
                    <a:pt x="0" y="22635"/>
                    <a:pt x="22635" y="0"/>
                    <a:pt x="50557" y="0"/>
                  </a:cubicBezTo>
                  <a:close/>
                </a:path>
              </a:pathLst>
            </a:custGeom>
            <a:solidFill>
              <a:srgbClr val="FFFFFF"/>
            </a:solidFill>
            <a:ln cap="rnd">
              <a:noFill/>
              <a:prstDash val="solid"/>
              <a:round/>
            </a:ln>
          </p:spPr>
        </p:sp>
        <p:sp>
          <p:nvSpPr>
            <p:cNvPr id="5" name="TextBox 5">
              <a:extLst>
                <a:ext uri="{FF2B5EF4-FFF2-40B4-BE49-F238E27FC236}">
                  <a16:creationId xmlns:a16="http://schemas.microsoft.com/office/drawing/2014/main" id="{6796A90F-F6D6-3F5B-9531-B52CDA7E085F}"/>
                </a:ext>
              </a:extLst>
            </p:cNvPr>
            <p:cNvSpPr txBox="1"/>
            <p:nvPr/>
          </p:nvSpPr>
          <p:spPr>
            <a:xfrm>
              <a:off x="0" y="-47625"/>
              <a:ext cx="4033086" cy="1360670"/>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310D5CBC-1F20-C61D-A983-DB852A4D8276}"/>
              </a:ext>
            </a:extLst>
          </p:cNvPr>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A82DEE70-14CF-61CE-DE20-8059562900DE}"/>
              </a:ext>
            </a:extLst>
          </p:cNvPr>
          <p:cNvSpPr/>
          <p:nvPr/>
        </p:nvSpPr>
        <p:spPr>
          <a:xfrm>
            <a:off x="0" y="7843178"/>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a:extLst>
              <a:ext uri="{FF2B5EF4-FFF2-40B4-BE49-F238E27FC236}">
                <a16:creationId xmlns:a16="http://schemas.microsoft.com/office/drawing/2014/main" id="{E650194F-AEF9-EB62-BECF-1843AB0A0CF9}"/>
              </a:ext>
            </a:extLst>
          </p:cNvPr>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CAD254D3-897C-ABC2-13EA-8F9077BAE513}"/>
              </a:ext>
            </a:extLst>
          </p:cNvPr>
          <p:cNvSpPr txBox="1"/>
          <p:nvPr/>
        </p:nvSpPr>
        <p:spPr>
          <a:xfrm>
            <a:off x="2216695" y="3009900"/>
            <a:ext cx="14774060" cy="3965381"/>
          </a:xfrm>
          <a:prstGeom prst="rect">
            <a:avLst/>
          </a:prstGeom>
        </p:spPr>
        <p:txBody>
          <a:bodyPr lIns="0" tIns="0" rIns="0" bIns="0" rtlCol="0" anchor="t">
            <a:spAutoFit/>
          </a:bodyPr>
          <a:lstStyle/>
          <a:p>
            <a:r>
              <a:rPr lang="en-US" sz="3000" b="1" dirty="0">
                <a:latin typeface="Arimo" panose="020B0604020202020204" charset="0"/>
                <a:ea typeface="Arimo" panose="020B0604020202020204" charset="0"/>
                <a:cs typeface="Arimo" panose="020B0604020202020204" charset="0"/>
              </a:rPr>
              <a:t>2. LOGICAL RECORD STRUCTURE (LRS)</a:t>
            </a:r>
          </a:p>
          <a:p>
            <a:pPr algn="l">
              <a:lnSpc>
                <a:spcPts val="5285"/>
              </a:lnSpc>
            </a:pPr>
            <a:endParaRPr lang="en-US" sz="30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4983"/>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3500" dirty="0">
              <a:solidFill>
                <a:srgbClr val="23354B"/>
              </a:solidFill>
              <a:latin typeface="Arimo" panose="020B0604020202020204" charset="0"/>
              <a:ea typeface="Arimo" panose="020B0604020202020204" charset="0"/>
              <a:cs typeface="Arimo" panose="020B0604020202020204" charset="0"/>
              <a:sym typeface="Arimo"/>
            </a:endParaRPr>
          </a:p>
        </p:txBody>
      </p:sp>
      <p:sp>
        <p:nvSpPr>
          <p:cNvPr id="10" name="TextBox 10">
            <a:extLst>
              <a:ext uri="{FF2B5EF4-FFF2-40B4-BE49-F238E27FC236}">
                <a16:creationId xmlns:a16="http://schemas.microsoft.com/office/drawing/2014/main" id="{E230DC3A-C864-C446-8661-1F4B2B921125}"/>
              </a:ext>
            </a:extLst>
          </p:cNvPr>
          <p:cNvSpPr txBox="1"/>
          <p:nvPr/>
        </p:nvSpPr>
        <p:spPr>
          <a:xfrm>
            <a:off x="2197334" y="948715"/>
            <a:ext cx="13719870" cy="1269578"/>
          </a:xfrm>
          <a:prstGeom prst="rect">
            <a:avLst/>
          </a:prstGeom>
        </p:spPr>
        <p:txBody>
          <a:bodyPr lIns="0" tIns="0" rIns="0" bIns="0" rtlCol="0" anchor="t">
            <a:spAutoFit/>
          </a:bodyPr>
          <a:lstStyle/>
          <a:p>
            <a:pPr algn="ctr">
              <a:lnSpc>
                <a:spcPts val="10780"/>
              </a:lnSpc>
              <a:spcBef>
                <a:spcPct val="0"/>
              </a:spcBef>
            </a:pPr>
            <a:r>
              <a:rPr lang="en-US" sz="6000" dirty="0">
                <a:solidFill>
                  <a:srgbClr val="FFFFFF"/>
                </a:solidFill>
                <a:latin typeface="League Spartan"/>
                <a:ea typeface="League Spartan"/>
                <a:cs typeface="League Spartan"/>
                <a:sym typeface="League Spartan"/>
              </a:rPr>
              <a:t>DESAIN SISTEM</a:t>
            </a:r>
          </a:p>
        </p:txBody>
      </p:sp>
      <p:pic>
        <p:nvPicPr>
          <p:cNvPr id="12" name="Picture 11">
            <a:extLst>
              <a:ext uri="{FF2B5EF4-FFF2-40B4-BE49-F238E27FC236}">
                <a16:creationId xmlns:a16="http://schemas.microsoft.com/office/drawing/2014/main" id="{FDFA85C1-CCA1-DA7B-4B67-1B3C352D287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13840" y="3571427"/>
            <a:ext cx="2543531" cy="5898043"/>
          </a:xfrm>
          <a:prstGeom prst="rect">
            <a:avLst/>
          </a:prstGeom>
        </p:spPr>
      </p:pic>
    </p:spTree>
    <p:extLst>
      <p:ext uri="{BB962C8B-B14F-4D97-AF65-F5344CB8AC3E}">
        <p14:creationId xmlns:p14="http://schemas.microsoft.com/office/powerpoint/2010/main" val="3681306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p:cNvGrpSpPr/>
        <p:nvPr/>
      </p:nvGrpSpPr>
      <p:grpSpPr>
        <a:xfrm>
          <a:off x="0" y="0"/>
          <a:ext cx="0" cy="0"/>
          <a:chOff x="0" y="0"/>
          <a:chExt cx="0" cy="0"/>
        </a:xfrm>
      </p:grpSpPr>
      <p:sp>
        <p:nvSpPr>
          <p:cNvPr id="2" name="Freeform 2"/>
          <p:cNvSpPr/>
          <p:nvPr/>
        </p:nvSpPr>
        <p:spPr>
          <a:xfrm>
            <a:off x="15537499" y="408799"/>
            <a:ext cx="1487448" cy="1929472"/>
          </a:xfrm>
          <a:custGeom>
            <a:avLst/>
            <a:gdLst/>
            <a:ahLst/>
            <a:cxnLst/>
            <a:rect l="l" t="t" r="r" b="b"/>
            <a:pathLst>
              <a:path w="1487448" h="1929472">
                <a:moveTo>
                  <a:pt x="0" y="0"/>
                </a:moveTo>
                <a:lnTo>
                  <a:pt x="1487447" y="0"/>
                </a:lnTo>
                <a:lnTo>
                  <a:pt x="1487447" y="1929472"/>
                </a:lnTo>
                <a:lnTo>
                  <a:pt x="0" y="1929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787293" y="7753458"/>
            <a:ext cx="1487448" cy="1929472"/>
          </a:xfrm>
          <a:custGeom>
            <a:avLst/>
            <a:gdLst/>
            <a:ahLst/>
            <a:cxnLst/>
            <a:rect l="l" t="t" r="r" b="b"/>
            <a:pathLst>
              <a:path w="1487448" h="1929472">
                <a:moveTo>
                  <a:pt x="0" y="0"/>
                </a:moveTo>
                <a:lnTo>
                  <a:pt x="1487448" y="0"/>
                </a:lnTo>
                <a:lnTo>
                  <a:pt x="1487448" y="1929473"/>
                </a:lnTo>
                <a:lnTo>
                  <a:pt x="0" y="19294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892260" y="845119"/>
            <a:ext cx="764962" cy="2168706"/>
          </a:xfrm>
          <a:custGeom>
            <a:avLst/>
            <a:gdLst/>
            <a:ahLst/>
            <a:cxnLst/>
            <a:rect l="l" t="t" r="r" b="b"/>
            <a:pathLst>
              <a:path w="764962" h="2168706">
                <a:moveTo>
                  <a:pt x="0" y="0"/>
                </a:moveTo>
                <a:lnTo>
                  <a:pt x="764962" y="0"/>
                </a:lnTo>
                <a:lnTo>
                  <a:pt x="764962" y="2168707"/>
                </a:lnTo>
                <a:lnTo>
                  <a:pt x="0" y="21687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5400000" flipH="1" flipV="1">
            <a:off x="15155018" y="7251361"/>
            <a:ext cx="764962" cy="2168706"/>
          </a:xfrm>
          <a:custGeom>
            <a:avLst/>
            <a:gdLst/>
            <a:ahLst/>
            <a:cxnLst/>
            <a:rect l="l" t="t" r="r" b="b"/>
            <a:pathLst>
              <a:path w="764962" h="2168706">
                <a:moveTo>
                  <a:pt x="764961" y="2168706"/>
                </a:moveTo>
                <a:lnTo>
                  <a:pt x="0" y="2168706"/>
                </a:lnTo>
                <a:lnTo>
                  <a:pt x="0" y="0"/>
                </a:lnTo>
                <a:lnTo>
                  <a:pt x="764961" y="0"/>
                </a:lnTo>
                <a:lnTo>
                  <a:pt x="764961" y="216870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2168611" y="3767021"/>
            <a:ext cx="13950777" cy="2510303"/>
          </a:xfrm>
          <a:prstGeom prst="rect">
            <a:avLst/>
          </a:prstGeom>
        </p:spPr>
        <p:txBody>
          <a:bodyPr lIns="0" tIns="0" rIns="0" bIns="0" rtlCol="0" anchor="t">
            <a:spAutoFit/>
          </a:bodyPr>
          <a:lstStyle/>
          <a:p>
            <a:pPr algn="ctr">
              <a:lnSpc>
                <a:spcPts val="20299"/>
              </a:lnSpc>
              <a:spcBef>
                <a:spcPct val="0"/>
              </a:spcBef>
            </a:pPr>
            <a:r>
              <a:rPr lang="en-US" sz="14499" dirty="0">
                <a:solidFill>
                  <a:srgbClr val="FFFFFF"/>
                </a:solidFill>
                <a:latin typeface="League Spartan"/>
                <a:ea typeface="League Spartan"/>
                <a:cs typeface="League Spartan"/>
                <a:sym typeface="League Spartan"/>
              </a:rPr>
              <a:t>DEMO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a:extLst>
            <a:ext uri="{FF2B5EF4-FFF2-40B4-BE49-F238E27FC236}">
              <a16:creationId xmlns:a16="http://schemas.microsoft.com/office/drawing/2014/main" id="{676052E7-0912-1C91-2B97-2A5C984E1FF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C004335-B8A9-438D-C004-937A77A23235}"/>
              </a:ext>
            </a:extLst>
          </p:cNvPr>
          <p:cNvSpPr/>
          <p:nvPr/>
        </p:nvSpPr>
        <p:spPr>
          <a:xfrm>
            <a:off x="-437245" y="-273117"/>
            <a:ext cx="19027750" cy="10703110"/>
          </a:xfrm>
          <a:custGeom>
            <a:avLst/>
            <a:gdLst/>
            <a:ahLst/>
            <a:cxnLst/>
            <a:rect l="l" t="t" r="r" b="b"/>
            <a:pathLst>
              <a:path w="19027750" h="10703110">
                <a:moveTo>
                  <a:pt x="0" y="0"/>
                </a:moveTo>
                <a:lnTo>
                  <a:pt x="19027750" y="0"/>
                </a:lnTo>
                <a:lnTo>
                  <a:pt x="19027750" y="10703109"/>
                </a:lnTo>
                <a:lnTo>
                  <a:pt x="0" y="10703109"/>
                </a:lnTo>
                <a:lnTo>
                  <a:pt x="0" y="0"/>
                </a:lnTo>
                <a:close/>
              </a:path>
            </a:pathLst>
          </a:custGeom>
          <a:blipFill>
            <a:blip r:embed="rId2">
              <a:alphaModFix amt="6000"/>
              <a:extLst>
                <a:ext uri="{96DAC541-7B7A-43D3-8B79-37D633B846F1}">
                  <asvg:svgBlip xmlns:asvg="http://schemas.microsoft.com/office/drawing/2016/SVG/main" r:embed="rId3"/>
                </a:ext>
              </a:extLst>
            </a:blip>
            <a:stretch>
              <a:fillRect t="-69598" b="-1068"/>
            </a:stretch>
          </a:blipFill>
        </p:spPr>
        <p:txBody>
          <a:bodyPr/>
          <a:lstStyle/>
          <a:p>
            <a:endParaRPr lang="en-US" dirty="0"/>
          </a:p>
        </p:txBody>
      </p:sp>
      <p:grpSp>
        <p:nvGrpSpPr>
          <p:cNvPr id="3" name="Group 3">
            <a:extLst>
              <a:ext uri="{FF2B5EF4-FFF2-40B4-BE49-F238E27FC236}">
                <a16:creationId xmlns:a16="http://schemas.microsoft.com/office/drawing/2014/main" id="{D53E6C7D-C926-D4FB-CB62-5E7D7426C71D}"/>
              </a:ext>
            </a:extLst>
          </p:cNvPr>
          <p:cNvGrpSpPr/>
          <p:nvPr/>
        </p:nvGrpSpPr>
        <p:grpSpPr>
          <a:xfrm>
            <a:off x="1297245" y="3465412"/>
            <a:ext cx="15324607" cy="4087972"/>
            <a:chOff x="0" y="0"/>
            <a:chExt cx="4033086" cy="1313045"/>
          </a:xfrm>
        </p:grpSpPr>
        <p:sp>
          <p:nvSpPr>
            <p:cNvPr id="4" name="Freeform 4">
              <a:extLst>
                <a:ext uri="{FF2B5EF4-FFF2-40B4-BE49-F238E27FC236}">
                  <a16:creationId xmlns:a16="http://schemas.microsoft.com/office/drawing/2014/main" id="{490835B3-76EA-9091-6469-712D9A4739C1}"/>
                </a:ext>
              </a:extLst>
            </p:cNvPr>
            <p:cNvSpPr/>
            <p:nvPr/>
          </p:nvSpPr>
          <p:spPr>
            <a:xfrm>
              <a:off x="0" y="0"/>
              <a:ext cx="4033086" cy="1313045"/>
            </a:xfrm>
            <a:custGeom>
              <a:avLst/>
              <a:gdLst/>
              <a:ahLst/>
              <a:cxnLst/>
              <a:rect l="l" t="t" r="r" b="b"/>
              <a:pathLst>
                <a:path w="4033086" h="1313045">
                  <a:moveTo>
                    <a:pt x="50557" y="0"/>
                  </a:moveTo>
                  <a:lnTo>
                    <a:pt x="3982529" y="0"/>
                  </a:lnTo>
                  <a:cubicBezTo>
                    <a:pt x="3995937" y="0"/>
                    <a:pt x="4008797" y="5327"/>
                    <a:pt x="4018278" y="14808"/>
                  </a:cubicBezTo>
                  <a:cubicBezTo>
                    <a:pt x="4027760" y="24289"/>
                    <a:pt x="4033086" y="37149"/>
                    <a:pt x="4033086" y="50557"/>
                  </a:cubicBezTo>
                  <a:lnTo>
                    <a:pt x="4033086" y="1262488"/>
                  </a:lnTo>
                  <a:cubicBezTo>
                    <a:pt x="4033086" y="1290410"/>
                    <a:pt x="4010451" y="1313045"/>
                    <a:pt x="3982529" y="1313045"/>
                  </a:cubicBezTo>
                  <a:lnTo>
                    <a:pt x="50557" y="1313045"/>
                  </a:lnTo>
                  <a:cubicBezTo>
                    <a:pt x="22635" y="1313045"/>
                    <a:pt x="0" y="1290410"/>
                    <a:pt x="0" y="1262488"/>
                  </a:cubicBezTo>
                  <a:lnTo>
                    <a:pt x="0" y="50557"/>
                  </a:lnTo>
                  <a:cubicBezTo>
                    <a:pt x="0" y="22635"/>
                    <a:pt x="22635" y="0"/>
                    <a:pt x="50557" y="0"/>
                  </a:cubicBezTo>
                  <a:close/>
                </a:path>
              </a:pathLst>
            </a:custGeom>
            <a:solidFill>
              <a:srgbClr val="FFFFFF"/>
            </a:solidFill>
            <a:ln cap="rnd">
              <a:noFill/>
              <a:prstDash val="solid"/>
              <a:round/>
            </a:ln>
          </p:spPr>
        </p:sp>
        <p:sp>
          <p:nvSpPr>
            <p:cNvPr id="5" name="TextBox 5">
              <a:extLst>
                <a:ext uri="{FF2B5EF4-FFF2-40B4-BE49-F238E27FC236}">
                  <a16:creationId xmlns:a16="http://schemas.microsoft.com/office/drawing/2014/main" id="{1BAA9290-44CA-6528-2577-83BA82904CCF}"/>
                </a:ext>
              </a:extLst>
            </p:cNvPr>
            <p:cNvSpPr txBox="1"/>
            <p:nvPr/>
          </p:nvSpPr>
          <p:spPr>
            <a:xfrm>
              <a:off x="0" y="-47625"/>
              <a:ext cx="4033086" cy="1360670"/>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212D3ECB-B776-11BC-1706-5598DF7BB691}"/>
              </a:ext>
            </a:extLst>
          </p:cNvPr>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a:extLst>
              <a:ext uri="{FF2B5EF4-FFF2-40B4-BE49-F238E27FC236}">
                <a16:creationId xmlns:a16="http://schemas.microsoft.com/office/drawing/2014/main" id="{E644E6AA-5ADB-B04E-BA0F-D0539809C6D5}"/>
              </a:ext>
            </a:extLst>
          </p:cNvPr>
          <p:cNvSpPr/>
          <p:nvPr/>
        </p:nvSpPr>
        <p:spPr>
          <a:xfrm>
            <a:off x="0" y="7843178"/>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a:extLst>
              <a:ext uri="{FF2B5EF4-FFF2-40B4-BE49-F238E27FC236}">
                <a16:creationId xmlns:a16="http://schemas.microsoft.com/office/drawing/2014/main" id="{529EE558-F5FC-1F6C-C4C5-EFEE1E50F3B3}"/>
              </a:ext>
            </a:extLst>
          </p:cNvPr>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a:extLst>
              <a:ext uri="{FF2B5EF4-FFF2-40B4-BE49-F238E27FC236}">
                <a16:creationId xmlns:a16="http://schemas.microsoft.com/office/drawing/2014/main" id="{2E5E74DC-346E-7CC1-5C34-B194975402B3}"/>
              </a:ext>
            </a:extLst>
          </p:cNvPr>
          <p:cNvSpPr txBox="1"/>
          <p:nvPr/>
        </p:nvSpPr>
        <p:spPr>
          <a:xfrm>
            <a:off x="1847792" y="4443188"/>
            <a:ext cx="14774060" cy="7425110"/>
          </a:xfrm>
          <a:prstGeom prst="rect">
            <a:avLst/>
          </a:prstGeom>
        </p:spPr>
        <p:txBody>
          <a:bodyPr lIns="0" tIns="0" rIns="0" bIns="0" rtlCol="0" anchor="t">
            <a:spAutoFit/>
          </a:bodyPr>
          <a:lstStyle/>
          <a:p>
            <a:r>
              <a:rPr lang="en-US" sz="5000" u="sng" dirty="0">
                <a:hlinkClick r:id="rId8"/>
              </a:rPr>
              <a:t>https://www.figma.com/proto/ohZaYJQrYDOFKVFQru4xft/Project-Pelayanan-Masyarakat?node-id=0-1&amp;t=FkdODfZGWRBSI5l6-1</a:t>
            </a:r>
            <a:endParaRPr lang="en-US" sz="5000" dirty="0"/>
          </a:p>
          <a:p>
            <a:endParaRPr lang="en-US" sz="5000" b="1" dirty="0">
              <a:latin typeface="Arimo" panose="020B0604020202020204" charset="0"/>
              <a:ea typeface="Arimo" panose="020B0604020202020204" charset="0"/>
              <a:cs typeface="Arimo" panose="020B0604020202020204" charset="0"/>
            </a:endParaRPr>
          </a:p>
          <a:p>
            <a:pPr algn="l">
              <a:lnSpc>
                <a:spcPts val="5285"/>
              </a:lnSpc>
            </a:pPr>
            <a:endParaRPr lang="en-US" sz="50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4983"/>
              </a:lnSpc>
            </a:pPr>
            <a:endParaRPr lang="en-US" sz="50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50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50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5000" dirty="0">
              <a:solidFill>
                <a:srgbClr val="23354B"/>
              </a:solidFill>
              <a:latin typeface="Arimo" panose="020B0604020202020204" charset="0"/>
              <a:ea typeface="Arimo" panose="020B0604020202020204" charset="0"/>
              <a:cs typeface="Arimo" panose="020B0604020202020204" charset="0"/>
              <a:sym typeface="Arimo"/>
            </a:endParaRPr>
          </a:p>
          <a:p>
            <a:pPr algn="l">
              <a:lnSpc>
                <a:spcPts val="5889"/>
              </a:lnSpc>
            </a:pPr>
            <a:endParaRPr lang="en-US" sz="5000" dirty="0">
              <a:solidFill>
                <a:srgbClr val="23354B"/>
              </a:solidFill>
              <a:latin typeface="Arimo" panose="020B0604020202020204" charset="0"/>
              <a:ea typeface="Arimo" panose="020B0604020202020204" charset="0"/>
              <a:cs typeface="Arimo" panose="020B0604020202020204" charset="0"/>
              <a:sym typeface="Arimo"/>
            </a:endParaRPr>
          </a:p>
        </p:txBody>
      </p:sp>
      <p:sp>
        <p:nvSpPr>
          <p:cNvPr id="10" name="TextBox 10">
            <a:extLst>
              <a:ext uri="{FF2B5EF4-FFF2-40B4-BE49-F238E27FC236}">
                <a16:creationId xmlns:a16="http://schemas.microsoft.com/office/drawing/2014/main" id="{11B975CB-FBE7-F263-2D1F-BE285FEAB20E}"/>
              </a:ext>
            </a:extLst>
          </p:cNvPr>
          <p:cNvSpPr txBox="1"/>
          <p:nvPr/>
        </p:nvSpPr>
        <p:spPr>
          <a:xfrm>
            <a:off x="2099613" y="1692418"/>
            <a:ext cx="13719870" cy="1269578"/>
          </a:xfrm>
          <a:prstGeom prst="rect">
            <a:avLst/>
          </a:prstGeom>
        </p:spPr>
        <p:txBody>
          <a:bodyPr lIns="0" tIns="0" rIns="0" bIns="0" rtlCol="0" anchor="t">
            <a:spAutoFit/>
          </a:bodyPr>
          <a:lstStyle/>
          <a:p>
            <a:pPr algn="ctr">
              <a:lnSpc>
                <a:spcPts val="10780"/>
              </a:lnSpc>
              <a:spcBef>
                <a:spcPct val="0"/>
              </a:spcBef>
            </a:pPr>
            <a:r>
              <a:rPr lang="en-US" sz="6000" dirty="0">
                <a:solidFill>
                  <a:srgbClr val="FFFFFF"/>
                </a:solidFill>
                <a:latin typeface="League Spartan"/>
                <a:ea typeface="League Spartan"/>
                <a:cs typeface="League Spartan"/>
                <a:sym typeface="League Spartan"/>
              </a:rPr>
              <a:t>LINK PROTOTYPE</a:t>
            </a:r>
          </a:p>
        </p:txBody>
      </p:sp>
    </p:spTree>
    <p:extLst>
      <p:ext uri="{BB962C8B-B14F-4D97-AF65-F5344CB8AC3E}">
        <p14:creationId xmlns:p14="http://schemas.microsoft.com/office/powerpoint/2010/main" val="3004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830245"/>
            <a:ext cx="16230600" cy="6428055"/>
            <a:chOff x="0" y="0"/>
            <a:chExt cx="4274726" cy="1692986"/>
          </a:xfrm>
        </p:grpSpPr>
        <p:sp>
          <p:nvSpPr>
            <p:cNvPr id="3" name="Freeform 3"/>
            <p:cNvSpPr/>
            <p:nvPr/>
          </p:nvSpPr>
          <p:spPr>
            <a:xfrm>
              <a:off x="0" y="0"/>
              <a:ext cx="4274726" cy="1692986"/>
            </a:xfrm>
            <a:custGeom>
              <a:avLst/>
              <a:gdLst/>
              <a:ahLst/>
              <a:cxnLst/>
              <a:rect l="l" t="t" r="r" b="b"/>
              <a:pathLst>
                <a:path w="4274726" h="1692986">
                  <a:moveTo>
                    <a:pt x="0" y="0"/>
                  </a:moveTo>
                  <a:lnTo>
                    <a:pt x="4274726" y="0"/>
                  </a:lnTo>
                  <a:lnTo>
                    <a:pt x="4274726" y="1692986"/>
                  </a:lnTo>
                  <a:lnTo>
                    <a:pt x="0" y="1692986"/>
                  </a:lnTo>
                  <a:close/>
                </a:path>
              </a:pathLst>
            </a:custGeom>
            <a:solidFill>
              <a:srgbClr val="FFFFFF"/>
            </a:solidFill>
          </p:spPr>
        </p:sp>
        <p:sp>
          <p:nvSpPr>
            <p:cNvPr id="4" name="TextBox 4"/>
            <p:cNvSpPr txBox="1"/>
            <p:nvPr/>
          </p:nvSpPr>
          <p:spPr>
            <a:xfrm>
              <a:off x="0" y="-47625"/>
              <a:ext cx="4274726" cy="1740611"/>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190388" y="2847975"/>
            <a:ext cx="15772484" cy="6400800"/>
          </a:xfrm>
          <a:prstGeom prst="rect">
            <a:avLst/>
          </a:prstGeom>
        </p:spPr>
        <p:txBody>
          <a:bodyPr lIns="0" tIns="0" rIns="0" bIns="0" rtlCol="0" anchor="t">
            <a:spAutoFit/>
          </a:bodyPr>
          <a:lstStyle/>
          <a:p>
            <a:pPr algn="just">
              <a:lnSpc>
                <a:spcPts val="6300"/>
              </a:lnSpc>
              <a:spcBef>
                <a:spcPct val="0"/>
              </a:spcBef>
            </a:pPr>
            <a:r>
              <a:rPr lang="en-US" sz="4500" dirty="0" err="1">
                <a:solidFill>
                  <a:srgbClr val="23354B"/>
                </a:solidFill>
                <a:latin typeface="Arimo"/>
                <a:ea typeface="Arimo"/>
                <a:cs typeface="Arimo"/>
                <a:sym typeface="Arimo"/>
              </a:rPr>
              <a:t>Secara</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keseluruhan</a:t>
            </a:r>
            <a:r>
              <a:rPr lang="en-US" sz="4500" dirty="0">
                <a:solidFill>
                  <a:srgbClr val="23354B"/>
                </a:solidFill>
                <a:latin typeface="Arimo"/>
                <a:ea typeface="Arimo"/>
                <a:cs typeface="Arimo"/>
                <a:sym typeface="Arimo"/>
              </a:rPr>
              <a:t>, PEMAS </a:t>
            </a:r>
            <a:r>
              <a:rPr lang="en-US" sz="4500" dirty="0" err="1">
                <a:solidFill>
                  <a:srgbClr val="23354B"/>
                </a:solidFill>
                <a:latin typeface="Arimo"/>
                <a:ea typeface="Arimo"/>
                <a:cs typeface="Arimo"/>
                <a:sym typeface="Arimo"/>
              </a:rPr>
              <a:t>menjadi</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solusi</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efektif</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dalam</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meningkatkan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kualitas</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pelayanan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masyarakat</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melalui</a:t>
            </a:r>
            <a:r>
              <a:rPr lang="en-US" sz="4500" dirty="0">
                <a:solidFill>
                  <a:srgbClr val="23354B"/>
                </a:solidFill>
                <a:latin typeface="Arimo"/>
                <a:ea typeface="Arimo"/>
                <a:cs typeface="Arimo"/>
                <a:sym typeface="Arimo"/>
              </a:rPr>
              <a:t> proses </a:t>
            </a:r>
            <a:r>
              <a:rPr lang="en-US" sz="4500" dirty="0" err="1">
                <a:solidFill>
                  <a:srgbClr val="23354B"/>
                </a:solidFill>
                <a:latin typeface="Arimo"/>
                <a:ea typeface="Arimo"/>
                <a:cs typeface="Arimo"/>
                <a:sym typeface="Arimo"/>
              </a:rPr>
              <a:t>pelaporan</a:t>
            </a:r>
            <a:r>
              <a:rPr lang="en-US" sz="4500" dirty="0">
                <a:solidFill>
                  <a:srgbClr val="23354B"/>
                </a:solidFill>
                <a:latin typeface="Arimo"/>
                <a:ea typeface="Arimo"/>
                <a:cs typeface="Arimo"/>
                <a:sym typeface="Arimo"/>
              </a:rPr>
              <a:t> yang </a:t>
            </a:r>
            <a:r>
              <a:rPr lang="en-US" sz="4500" dirty="0" err="1">
                <a:solidFill>
                  <a:srgbClr val="23354B"/>
                </a:solidFill>
                <a:latin typeface="Arimo"/>
                <a:ea typeface="Arimo"/>
                <a:cs typeface="Arimo"/>
                <a:sym typeface="Arimo"/>
              </a:rPr>
              <a:t>lebih</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cepat</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terstruktur</a:t>
            </a:r>
            <a:r>
              <a:rPr lang="en-US" sz="4500" dirty="0">
                <a:solidFill>
                  <a:srgbClr val="23354B"/>
                </a:solidFill>
                <a:latin typeface="Arimo"/>
                <a:ea typeface="Arimo"/>
                <a:cs typeface="Arimo"/>
                <a:sym typeface="Arimo"/>
              </a:rPr>
              <a:t>, dan </a:t>
            </a:r>
            <a:r>
              <a:rPr lang="en-US" sz="4500" dirty="0" err="1">
                <a:solidFill>
                  <a:srgbClr val="23354B"/>
                </a:solidFill>
                <a:latin typeface="Arimo"/>
                <a:ea typeface="Arimo"/>
                <a:cs typeface="Arimo"/>
                <a:sym typeface="Arimo"/>
              </a:rPr>
              <a:t>transparan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Sistem</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ini</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mempermudah</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masyarakat</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dalam</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menyampaikan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keluhan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sekaligus</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membantu</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pemerintah</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untuk</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menangani</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laporan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dengan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lebih</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efisien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Dengan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adanya</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sistem</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ini</a:t>
            </a:r>
            <a:r>
              <a:rPr lang="en-US" sz="4500" dirty="0">
                <a:solidFill>
                  <a:srgbClr val="23354B"/>
                </a:solidFill>
                <a:latin typeface="Arimo"/>
                <a:ea typeface="Arimo"/>
                <a:cs typeface="Arimo"/>
                <a:sym typeface="Arimo"/>
              </a:rPr>
              <a:t>, proses </a:t>
            </a:r>
            <a:r>
              <a:rPr lang="en-US" sz="4500" dirty="0" err="1">
                <a:solidFill>
                  <a:srgbClr val="23354B"/>
                </a:solidFill>
                <a:latin typeface="Arimo"/>
                <a:ea typeface="Arimo"/>
                <a:cs typeface="Arimo"/>
                <a:sym typeface="Arimo"/>
              </a:rPr>
              <a:t>pengaduan</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menjadi</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lebih</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jelas</a:t>
            </a:r>
            <a:r>
              <a:rPr lang="en-US" sz="4500" dirty="0">
                <a:solidFill>
                  <a:srgbClr val="23354B"/>
                </a:solidFill>
                <a:latin typeface="Arimo"/>
                <a:ea typeface="Arimo"/>
                <a:cs typeface="Arimo"/>
                <a:sym typeface="Arimo"/>
              </a:rPr>
              <a:t>, </a:t>
            </a:r>
            <a:r>
              <a:rPr lang="en-US" sz="4500" dirty="0" err="1">
                <a:solidFill>
                  <a:srgbClr val="23354B"/>
                </a:solidFill>
                <a:latin typeface="Arimo"/>
                <a:ea typeface="Arimo"/>
                <a:cs typeface="Arimo"/>
                <a:sym typeface="Arimo"/>
              </a:rPr>
              <a:t>terdokumentasi</a:t>
            </a:r>
            <a:r>
              <a:rPr lang="en-US" sz="4500" dirty="0">
                <a:solidFill>
                  <a:srgbClr val="23354B"/>
                </a:solidFill>
                <a:latin typeface="Arimo"/>
                <a:ea typeface="Arimo"/>
                <a:cs typeface="Arimo"/>
                <a:sym typeface="Arimo"/>
              </a:rPr>
              <a:t>, dan </a:t>
            </a:r>
            <a:r>
              <a:rPr lang="en-US" sz="4500" dirty="0" err="1">
                <a:solidFill>
                  <a:srgbClr val="23354B"/>
                </a:solidFill>
                <a:latin typeface="Arimo"/>
                <a:ea typeface="Arimo"/>
                <a:cs typeface="Arimo"/>
                <a:sym typeface="Arimo"/>
              </a:rPr>
              <a:t>akuntabel</a:t>
            </a:r>
            <a:r>
              <a:rPr lang="en-US" sz="4500" dirty="0">
                <a:solidFill>
                  <a:srgbClr val="23354B"/>
                </a:solidFill>
                <a:latin typeface="Arimo"/>
                <a:ea typeface="Arimo"/>
                <a:cs typeface="Arimo"/>
                <a:sym typeface="Arimo"/>
              </a:rPr>
              <a:t>.</a:t>
            </a:r>
          </a:p>
        </p:txBody>
      </p:sp>
      <p:sp>
        <p:nvSpPr>
          <p:cNvPr id="6" name="Freeform 6"/>
          <p:cNvSpPr/>
          <p:nvPr/>
        </p:nvSpPr>
        <p:spPr>
          <a:xfrm>
            <a:off x="16621852" y="0"/>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5172174" y="838200"/>
            <a:ext cx="7808913" cy="1708151"/>
          </a:xfrm>
          <a:prstGeom prst="rect">
            <a:avLst/>
          </a:prstGeom>
        </p:spPr>
        <p:txBody>
          <a:bodyPr lIns="0" tIns="0" rIns="0" bIns="0" rtlCol="0" anchor="t">
            <a:spAutoFit/>
          </a:bodyPr>
          <a:lstStyle/>
          <a:p>
            <a:pPr algn="ctr">
              <a:lnSpc>
                <a:spcPts val="13999"/>
              </a:lnSpc>
              <a:spcBef>
                <a:spcPct val="0"/>
              </a:spcBef>
            </a:pPr>
            <a:r>
              <a:rPr lang="en-US" sz="9000" dirty="0">
                <a:solidFill>
                  <a:srgbClr val="FFFFFF"/>
                </a:solidFill>
                <a:latin typeface="League Spartan"/>
                <a:ea typeface="League Spartan"/>
                <a:cs typeface="League Spartan"/>
                <a:sym typeface="League Spartan"/>
              </a:rPr>
              <a:t>Kesimpulan</a:t>
            </a:r>
          </a:p>
        </p:txBody>
      </p:sp>
      <p:sp>
        <p:nvSpPr>
          <p:cNvPr id="8" name="Freeform 8"/>
          <p:cNvSpPr/>
          <p:nvPr/>
        </p:nvSpPr>
        <p:spPr>
          <a:xfrm>
            <a:off x="-297060" y="8718195"/>
            <a:ext cx="1487448" cy="1929472"/>
          </a:xfrm>
          <a:custGeom>
            <a:avLst/>
            <a:gdLst/>
            <a:ahLst/>
            <a:cxnLst/>
            <a:rect l="l" t="t" r="r" b="b"/>
            <a:pathLst>
              <a:path w="1487448" h="1929472">
                <a:moveTo>
                  <a:pt x="0" y="0"/>
                </a:moveTo>
                <a:lnTo>
                  <a:pt x="1487448" y="0"/>
                </a:lnTo>
                <a:lnTo>
                  <a:pt x="1487448" y="1929472"/>
                </a:lnTo>
                <a:lnTo>
                  <a:pt x="0" y="1929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400000">
            <a:off x="807907" y="-438134"/>
            <a:ext cx="764962" cy="2168706"/>
          </a:xfrm>
          <a:custGeom>
            <a:avLst/>
            <a:gdLst/>
            <a:ahLst/>
            <a:cxnLst/>
            <a:rect l="l" t="t" r="r" b="b"/>
            <a:pathLst>
              <a:path w="764962" h="2168706">
                <a:moveTo>
                  <a:pt x="0" y="0"/>
                </a:moveTo>
                <a:lnTo>
                  <a:pt x="764962" y="0"/>
                </a:lnTo>
                <a:lnTo>
                  <a:pt x="764962" y="2168706"/>
                </a:lnTo>
                <a:lnTo>
                  <a:pt x="0" y="21687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5400000" flipH="1" flipV="1">
            <a:off x="16239371" y="8665253"/>
            <a:ext cx="764962" cy="2168706"/>
          </a:xfrm>
          <a:custGeom>
            <a:avLst/>
            <a:gdLst/>
            <a:ahLst/>
            <a:cxnLst/>
            <a:rect l="l" t="t" r="r" b="b"/>
            <a:pathLst>
              <a:path w="764962" h="2168706">
                <a:moveTo>
                  <a:pt x="764962" y="2168706"/>
                </a:moveTo>
                <a:lnTo>
                  <a:pt x="0" y="2168706"/>
                </a:lnTo>
                <a:lnTo>
                  <a:pt x="0" y="0"/>
                </a:lnTo>
                <a:lnTo>
                  <a:pt x="764962" y="0"/>
                </a:lnTo>
                <a:lnTo>
                  <a:pt x="764962" y="2168706"/>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3354B"/>
        </a:solidFill>
        <a:effectLst/>
      </p:bgPr>
    </p:bg>
    <p:spTree>
      <p:nvGrpSpPr>
        <p:cNvPr id="1" name="">
          <a:extLst>
            <a:ext uri="{FF2B5EF4-FFF2-40B4-BE49-F238E27FC236}">
              <a16:creationId xmlns:a16="http://schemas.microsoft.com/office/drawing/2014/main" id="{C3EE7955-42CA-2306-4701-582BAD68A15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C64818C-25EF-950B-448B-B6AB0E266074}"/>
              </a:ext>
            </a:extLst>
          </p:cNvPr>
          <p:cNvSpPr/>
          <p:nvPr/>
        </p:nvSpPr>
        <p:spPr>
          <a:xfrm>
            <a:off x="15537499" y="408799"/>
            <a:ext cx="1487448" cy="1929472"/>
          </a:xfrm>
          <a:custGeom>
            <a:avLst/>
            <a:gdLst/>
            <a:ahLst/>
            <a:cxnLst/>
            <a:rect l="l" t="t" r="r" b="b"/>
            <a:pathLst>
              <a:path w="1487448" h="1929472">
                <a:moveTo>
                  <a:pt x="0" y="0"/>
                </a:moveTo>
                <a:lnTo>
                  <a:pt x="1487447" y="0"/>
                </a:lnTo>
                <a:lnTo>
                  <a:pt x="1487447" y="1929472"/>
                </a:lnTo>
                <a:lnTo>
                  <a:pt x="0" y="1929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B466E34A-4D8F-EB19-8068-88814026F202}"/>
              </a:ext>
            </a:extLst>
          </p:cNvPr>
          <p:cNvSpPr/>
          <p:nvPr/>
        </p:nvSpPr>
        <p:spPr>
          <a:xfrm>
            <a:off x="787293" y="7753458"/>
            <a:ext cx="1487448" cy="1929472"/>
          </a:xfrm>
          <a:custGeom>
            <a:avLst/>
            <a:gdLst/>
            <a:ahLst/>
            <a:cxnLst/>
            <a:rect l="l" t="t" r="r" b="b"/>
            <a:pathLst>
              <a:path w="1487448" h="1929472">
                <a:moveTo>
                  <a:pt x="0" y="0"/>
                </a:moveTo>
                <a:lnTo>
                  <a:pt x="1487448" y="0"/>
                </a:lnTo>
                <a:lnTo>
                  <a:pt x="1487448" y="1929473"/>
                </a:lnTo>
                <a:lnTo>
                  <a:pt x="0" y="19294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EE3DDC77-9A58-032C-1ABD-487F32BE63AB}"/>
              </a:ext>
            </a:extLst>
          </p:cNvPr>
          <p:cNvSpPr/>
          <p:nvPr/>
        </p:nvSpPr>
        <p:spPr>
          <a:xfrm rot="5400000">
            <a:off x="1892260" y="845119"/>
            <a:ext cx="764962" cy="2168706"/>
          </a:xfrm>
          <a:custGeom>
            <a:avLst/>
            <a:gdLst/>
            <a:ahLst/>
            <a:cxnLst/>
            <a:rect l="l" t="t" r="r" b="b"/>
            <a:pathLst>
              <a:path w="764962" h="2168706">
                <a:moveTo>
                  <a:pt x="0" y="0"/>
                </a:moveTo>
                <a:lnTo>
                  <a:pt x="764962" y="0"/>
                </a:lnTo>
                <a:lnTo>
                  <a:pt x="764962" y="2168707"/>
                </a:lnTo>
                <a:lnTo>
                  <a:pt x="0" y="21687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FF2B5EF4-FFF2-40B4-BE49-F238E27FC236}">
                <a16:creationId xmlns:a16="http://schemas.microsoft.com/office/drawing/2014/main" id="{D90AE770-B610-CA1F-B123-C6A8E67EDDAB}"/>
              </a:ext>
            </a:extLst>
          </p:cNvPr>
          <p:cNvSpPr/>
          <p:nvPr/>
        </p:nvSpPr>
        <p:spPr>
          <a:xfrm rot="5400000" flipH="1" flipV="1">
            <a:off x="15155018" y="7251361"/>
            <a:ext cx="764962" cy="2168706"/>
          </a:xfrm>
          <a:custGeom>
            <a:avLst/>
            <a:gdLst/>
            <a:ahLst/>
            <a:cxnLst/>
            <a:rect l="l" t="t" r="r" b="b"/>
            <a:pathLst>
              <a:path w="764962" h="2168706">
                <a:moveTo>
                  <a:pt x="764961" y="2168706"/>
                </a:moveTo>
                <a:lnTo>
                  <a:pt x="0" y="2168706"/>
                </a:lnTo>
                <a:lnTo>
                  <a:pt x="0" y="0"/>
                </a:lnTo>
                <a:lnTo>
                  <a:pt x="764961" y="0"/>
                </a:lnTo>
                <a:lnTo>
                  <a:pt x="764961" y="216870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a:extLst>
              <a:ext uri="{FF2B5EF4-FFF2-40B4-BE49-F238E27FC236}">
                <a16:creationId xmlns:a16="http://schemas.microsoft.com/office/drawing/2014/main" id="{4549D177-9DE0-0A95-127E-DBEAF0B67306}"/>
              </a:ext>
            </a:extLst>
          </p:cNvPr>
          <p:cNvSpPr txBox="1"/>
          <p:nvPr/>
        </p:nvSpPr>
        <p:spPr>
          <a:xfrm>
            <a:off x="2168611" y="3767021"/>
            <a:ext cx="13950777" cy="2476733"/>
          </a:xfrm>
          <a:prstGeom prst="rect">
            <a:avLst/>
          </a:prstGeom>
        </p:spPr>
        <p:txBody>
          <a:bodyPr lIns="0" tIns="0" rIns="0" bIns="0" rtlCol="0" anchor="t">
            <a:spAutoFit/>
          </a:bodyPr>
          <a:lstStyle/>
          <a:p>
            <a:pPr algn="ctr">
              <a:lnSpc>
                <a:spcPts val="20299"/>
              </a:lnSpc>
              <a:spcBef>
                <a:spcPct val="0"/>
              </a:spcBef>
            </a:pPr>
            <a:r>
              <a:rPr lang="en-US" sz="14499">
                <a:solidFill>
                  <a:srgbClr val="FFFFFF"/>
                </a:solidFill>
                <a:latin typeface="League Spartan"/>
                <a:ea typeface="League Spartan"/>
                <a:cs typeface="League Spartan"/>
                <a:sym typeface="League Spartan"/>
              </a:rPr>
              <a:t>Terima Kasih</a:t>
            </a:r>
          </a:p>
        </p:txBody>
      </p:sp>
    </p:spTree>
    <p:extLst>
      <p:ext uri="{BB962C8B-B14F-4D97-AF65-F5344CB8AC3E}">
        <p14:creationId xmlns:p14="http://schemas.microsoft.com/office/powerpoint/2010/main" val="941889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TotalTime>
  <Words>609</Words>
  <Application>Microsoft Office PowerPoint</Application>
  <PresentationFormat>Custom</PresentationFormat>
  <Paragraphs>92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League Spartan</vt:lpstr>
      <vt:lpstr>Arial</vt:lpstr>
      <vt:lpstr>Arimo Bold</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Putih Biru Abstrak Seminar Proposal Presentasi</dc:title>
  <dc:creator>ASUS</dc:creator>
  <cp:lastModifiedBy>Edwan Maul</cp:lastModifiedBy>
  <cp:revision>9</cp:revision>
  <dcterms:created xsi:type="dcterms:W3CDTF">2006-08-16T00:00:00Z</dcterms:created>
  <dcterms:modified xsi:type="dcterms:W3CDTF">2025-12-05T10:16:36Z</dcterms:modified>
  <dc:identifier>DAG6hbNnEqE</dc:identifier>
</cp:coreProperties>
</file>